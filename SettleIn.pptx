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oppins"/>
      <p:bold r:id="rId20"/>
      <p:boldItalic r:id="rId21"/>
    </p:embeddedFont>
    <p:embeddedFont>
      <p:font typeface="Poppins Medium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  <p:embeddedFont>
      <p:font typeface="Poppins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Medium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PoppinsMedium-italic.fntdata"/><Relationship Id="rId23" Type="http://schemas.openxmlformats.org/officeDocument/2006/relationships/font" Target="fonts/Poppi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regular.fntdata"/><Relationship Id="rId25" Type="http://schemas.openxmlformats.org/officeDocument/2006/relationships/font" Target="fonts/PoppinsMedium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ExtraBold-boldItalic.fntdata"/><Relationship Id="rId30" Type="http://schemas.openxmlformats.org/officeDocument/2006/relationships/font" Target="fonts/Poppins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409f5d7ffb5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409f5d7ffb5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09f5d7ffb5_1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09f5d7ffb5_1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09f5d7ffb5_1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09f5d7ffb5_1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09f5d7ffb5_1_1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09f5d7ffb5_1_1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09f5d7ffb5_1_1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09f5d7ffb5_1_1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09f5d7ffb5_1_1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09f5d7ffb5_1_1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409f5d7ffb5_1_1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409f5d7ffb5_1_1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409f5d7ffb5_1_1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409f5d7ffb5_1_1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409f5d7ffb5_1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409f5d7ffb5_1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409f5d7ffb5_1_2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409f5d7ffb5_1_2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409f5d7ffb5_1_2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409f5d7ffb5_1_2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409f5d7ffb5_1_2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409f5d7ffb5_1_2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409f5d7ffb5_1_2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409f5d7ffb5_1_2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409f5d7ffb5_1_3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409f5d7ffb5_1_3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f5d7ffb5_8_0)">
  <p:cSld name="Generated (g409f5d7ffb5_8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14"/>
          <p:cNvGrpSpPr/>
          <p:nvPr/>
        </p:nvGrpSpPr>
        <p:grpSpPr>
          <a:xfrm>
            <a:off x="1333500" y="571500"/>
            <a:ext cx="6477000" cy="2095500"/>
            <a:chOff x="0" y="0"/>
            <a:chExt cx="6477000" cy="2095500"/>
          </a:xfrm>
        </p:grpSpPr>
        <p:sp>
          <p:nvSpPr>
            <p:cNvPr id="58" name="Google Shape;58;p14"/>
            <p:cNvSpPr/>
            <p:nvPr/>
          </p:nvSpPr>
          <p:spPr>
            <a:xfrm>
              <a:off x="0" y="0"/>
              <a:ext cx="6477000" cy="20955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0" y="0"/>
              <a:ext cx="6477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5200">
                  <a:solidFill>
                    <a:srgbClr val="6366F1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SettleIn</a:t>
              </a:r>
              <a:endParaRPr b="0" sz="5200">
                <a:solidFill>
                  <a:srgbClr val="6366F1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37415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Your AI-Powered Life-Setup Navigator</a:t>
              </a:r>
              <a:endParaRPr b="0" sz="1800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1714500" y="2952750"/>
            <a:ext cx="5715000" cy="495300"/>
            <a:chOff x="0" y="0"/>
            <a:chExt cx="5715000" cy="4953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5715000" cy="495300"/>
            </a:xfrm>
            <a:prstGeom prst="roundRect">
              <a:avLst>
                <a:gd fmla="val 26923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0" y="0"/>
              <a:ext cx="5715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B55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Built for </a:t>
              </a:r>
              <a:r>
                <a:rPr b="1" lang="en-GB" sz="1200">
                  <a:solidFill>
                    <a:srgbClr val="6366F1"/>
                  </a:solidFill>
                  <a:latin typeface="Poppins"/>
                  <a:ea typeface="Poppins"/>
                  <a:cs typeface="Poppins"/>
                  <a:sym typeface="Poppins"/>
                </a:rPr>
                <a:t>Microsoft Agent-a-thon 2026</a:t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1714500" y="3581400"/>
            <a:ext cx="5715000" cy="495300"/>
            <a:chOff x="0" y="0"/>
            <a:chExt cx="5715000" cy="495300"/>
          </a:xfrm>
        </p:grpSpPr>
        <p:sp>
          <p:nvSpPr>
            <p:cNvPr id="64" name="Google Shape;64;p14"/>
            <p:cNvSpPr/>
            <p:nvPr/>
          </p:nvSpPr>
          <p:spPr>
            <a:xfrm>
              <a:off x="0" y="0"/>
              <a:ext cx="5715000" cy="495300"/>
            </a:xfrm>
            <a:prstGeom prst="roundRect">
              <a:avLst>
                <a:gd fmla="val 26923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0" y="0"/>
              <a:ext cx="5715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B55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GitHub: </a:t>
              </a:r>
              <a:r>
                <a:rPr lang="en-GB" sz="1200">
                  <a:solidFill>
                    <a:srgbClr val="EC48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https://github.com/shriya-0802/Microsoft.git</a:t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1714500" y="4210050"/>
            <a:ext cx="5715000" cy="495300"/>
            <a:chOff x="0" y="0"/>
            <a:chExt cx="5715000" cy="4953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0"/>
              <a:ext cx="5715000" cy="495300"/>
            </a:xfrm>
            <a:prstGeom prst="roundRect">
              <a:avLst>
                <a:gd fmla="val 26923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0" y="0"/>
              <a:ext cx="5715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B55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Presented by </a:t>
              </a:r>
              <a:r>
                <a:rPr b="1" lang="en-GB" sz="12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Shriya Mohanty</a:t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Problem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120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Relocation is Chaotic.</a:t>
            </a:r>
            <a:endParaRPr b="0" sz="120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76" name="Google Shape;76;p15"/>
          <p:cNvGrpSpPr/>
          <p:nvPr/>
        </p:nvGrpSpPr>
        <p:grpSpPr>
          <a:xfrm>
            <a:off x="571500" y="1333500"/>
            <a:ext cx="8001000" cy="3238500"/>
            <a:chOff x="0" y="0"/>
            <a:chExt cx="8001000" cy="3238500"/>
          </a:xfrm>
        </p:grpSpPr>
        <p:grpSp>
          <p:nvGrpSpPr>
            <p:cNvPr id="77" name="Google Shape;77;p15"/>
            <p:cNvGrpSpPr/>
            <p:nvPr/>
          </p:nvGrpSpPr>
          <p:grpSpPr>
            <a:xfrm>
              <a:off x="0" y="0"/>
              <a:ext cx="2476500" cy="3238500"/>
              <a:chOff x="0" y="0"/>
              <a:chExt cx="2476500" cy="3238500"/>
            </a:xfrm>
          </p:grpSpPr>
          <p:sp>
            <p:nvSpPr>
              <p:cNvPr id="78" name="Google Shape;78;p15"/>
              <p:cNvSpPr/>
              <p:nvPr/>
            </p:nvSpPr>
            <p:spPr>
              <a:xfrm>
                <a:off x="0" y="0"/>
                <a:ext cx="2476500" cy="32385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933450" y="314325"/>
                <a:ext cx="609600" cy="6096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5"/>
              <p:cNvSpPr txBox="1"/>
              <p:nvPr/>
            </p:nvSpPr>
            <p:spPr>
              <a:xfrm>
                <a:off x="991019" y="481965"/>
                <a:ext cx="494400" cy="43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tab</a:t>
                </a:r>
                <a:endParaRPr sz="21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1" name="Google Shape;81;p15"/>
              <p:cNvSpPr txBox="1"/>
              <p:nvPr/>
            </p:nvSpPr>
            <p:spPr>
              <a:xfrm>
                <a:off x="190500" y="1095375"/>
                <a:ext cx="20955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Juggling Tabs</a:t>
                </a:r>
                <a:endParaRPr b="1" sz="14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Moving requires managing multiple disconnected platforms simultaneously: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Housing &amp; Leases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Utilities Setup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Gov Documents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Logistics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2" name="Google Shape;82;p15"/>
            <p:cNvGrpSpPr/>
            <p:nvPr/>
          </p:nvGrpSpPr>
          <p:grpSpPr>
            <a:xfrm>
              <a:off x="2762250" y="0"/>
              <a:ext cx="2476500" cy="3238500"/>
              <a:chOff x="0" y="0"/>
              <a:chExt cx="2476500" cy="3238500"/>
            </a:xfrm>
          </p:grpSpPr>
          <p:sp>
            <p:nvSpPr>
              <p:cNvPr id="83" name="Google Shape;83;p15"/>
              <p:cNvSpPr/>
              <p:nvPr/>
            </p:nvSpPr>
            <p:spPr>
              <a:xfrm>
                <a:off x="0" y="0"/>
                <a:ext cx="2476500" cy="32385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933450" y="314325"/>
                <a:ext cx="609600" cy="6096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5"/>
              <p:cNvSpPr txBox="1"/>
              <p:nvPr/>
            </p:nvSpPr>
            <p:spPr>
              <a:xfrm>
                <a:off x="414147" y="481965"/>
                <a:ext cx="1648200" cy="43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event_busy</a:t>
                </a:r>
                <a:endParaRPr sz="21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6" name="Google Shape;86;p15"/>
              <p:cNvSpPr txBox="1"/>
              <p:nvPr/>
            </p:nvSpPr>
            <p:spPr>
              <a:xfrm>
                <a:off x="190500" y="1095375"/>
                <a:ext cx="20955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Missed Deadlines</a:t>
                </a:r>
                <a:endParaRPr b="1" sz="14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Lack of centralized tracking creates chaos: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No unified timeline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Critical tasks forgotten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Costly last-minute rush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Overwhelming stress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7" name="Google Shape;87;p15"/>
            <p:cNvGrpSpPr/>
            <p:nvPr/>
          </p:nvGrpSpPr>
          <p:grpSpPr>
            <a:xfrm>
              <a:off x="5524500" y="0"/>
              <a:ext cx="2476500" cy="3238500"/>
              <a:chOff x="0" y="0"/>
              <a:chExt cx="2476500" cy="32385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2476500" cy="32385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933450" y="314325"/>
                <a:ext cx="609600" cy="6096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5"/>
              <p:cNvSpPr txBox="1"/>
              <p:nvPr/>
            </p:nvSpPr>
            <p:spPr>
              <a:xfrm>
                <a:off x="331737" y="481965"/>
                <a:ext cx="1812900" cy="43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explore_off</a:t>
                </a:r>
                <a:endParaRPr sz="21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91" name="Google Shape;91;p15"/>
              <p:cNvSpPr txBox="1"/>
              <p:nvPr/>
            </p:nvSpPr>
            <p:spPr>
              <a:xfrm>
                <a:off x="190500" y="1095375"/>
                <a:ext cx="20955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Scattered Insights</a:t>
                </a:r>
                <a:endParaRPr b="1" sz="14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Difficulty discovering reliable neighborhood intelligence: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Untrusted reviews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Unclear local norms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Hard to find local services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4B5563"/>
                  </a:buClr>
                  <a:buSzPts val="1050"/>
                  <a:buFont typeface="Poppins"/>
                  <a:buChar char="●"/>
                </a:pPr>
                <a:r>
                  <a:rPr b="0" lang="en-GB" sz="105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Fragmented info</a:t>
                </a:r>
                <a:endParaRPr b="0" sz="10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Solution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120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Introducing SettleIn</a:t>
            </a:r>
            <a:endParaRPr b="0" sz="120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571500" y="1333500"/>
            <a:ext cx="3905400" cy="952500"/>
            <a:chOff x="0" y="0"/>
            <a:chExt cx="3905400" cy="952500"/>
          </a:xfrm>
        </p:grpSpPr>
        <p:sp>
          <p:nvSpPr>
            <p:cNvPr id="100" name="Google Shape;100;p16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228600" y="266700"/>
              <a:ext cx="419100" cy="419100"/>
            </a:xfrm>
            <a:prstGeom prst="ellipse">
              <a:avLst/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247650" y="34417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center_focus_strong</a:t>
              </a:r>
              <a:endParaRPr b="0" sz="200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685800" y="152400"/>
              <a:ext cx="30480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Centralized Command Center</a:t>
              </a:r>
              <a:endParaRPr b="1" sz="12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A single platform managing every aspect of your entire relocation process.</a:t>
              </a:r>
              <a:endParaRPr b="1" sz="95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571500" y="2428875"/>
            <a:ext cx="3905400" cy="952500"/>
            <a:chOff x="0" y="0"/>
            <a:chExt cx="3905400" cy="952500"/>
          </a:xfrm>
        </p:grpSpPr>
        <p:sp>
          <p:nvSpPr>
            <p:cNvPr id="105" name="Google Shape;105;p16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228600" y="266700"/>
              <a:ext cx="419100" cy="419100"/>
            </a:xfrm>
            <a:prstGeom prst="ellipse">
              <a:avLst/>
            </a:prstGeom>
            <a:solidFill>
              <a:srgbClr val="FCE7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247650" y="34417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b="0" sz="2000">
                <a:solidFill>
                  <a:srgbClr val="EC48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685800" y="152400"/>
              <a:ext cx="30480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AI-Driven Intelligence</a:t>
              </a:r>
              <a:endParaRPr b="1" sz="12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Real-time tracking, tailored smart insights, and personalized checklists.</a:t>
              </a:r>
              <a:endParaRPr b="1" sz="95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571500" y="3524250"/>
            <a:ext cx="3905400" cy="952500"/>
            <a:chOff x="0" y="0"/>
            <a:chExt cx="3905400" cy="952500"/>
          </a:xfrm>
        </p:grpSpPr>
        <p:sp>
          <p:nvSpPr>
            <p:cNvPr id="110" name="Google Shape;110;p16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228600" y="266700"/>
              <a:ext cx="419100" cy="419100"/>
            </a:xfrm>
            <a:prstGeom prst="ellipse">
              <a:avLst/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247650" y="34417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b="0" sz="200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685800" y="152400"/>
              <a:ext cx="30480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Seamless Transition</a:t>
              </a:r>
              <a:endParaRPr b="1" sz="12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Effortlessly shift from "Planning" mode to fully "Settled" in your new home.</a:t>
              </a:r>
              <a:endParaRPr b="1" sz="95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4667250" y="1333500"/>
            <a:ext cx="3905400" cy="952500"/>
            <a:chOff x="0" y="0"/>
            <a:chExt cx="3905400" cy="9525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228600" y="266700"/>
              <a:ext cx="419100" cy="419100"/>
            </a:xfrm>
            <a:prstGeom prst="ellipse">
              <a:avLst/>
            </a:prstGeom>
            <a:solidFill>
              <a:srgbClr val="FCE7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247650" y="34417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task_alt</a:t>
              </a:r>
              <a:endParaRPr b="0" sz="2000">
                <a:solidFill>
                  <a:srgbClr val="EC48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685800" y="152400"/>
              <a:ext cx="30480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Automated Workflows</a:t>
              </a:r>
              <a:endParaRPr b="1" sz="12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Smart deadline tracking, automated reminders, and stress-free execution.</a:t>
              </a:r>
              <a:endParaRPr b="1" sz="95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4667250" y="2428875"/>
            <a:ext cx="3905400" cy="952500"/>
            <a:chOff x="0" y="0"/>
            <a:chExt cx="3905400" cy="952500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228600" y="266700"/>
              <a:ext cx="419100" cy="419100"/>
            </a:xfrm>
            <a:prstGeom prst="ellipse">
              <a:avLst/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247650" y="34417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folder_shared</a:t>
              </a:r>
              <a:endParaRPr b="0" sz="200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685800" y="152400"/>
              <a:ext cx="30480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Secure Vault &amp; Budgeting</a:t>
              </a:r>
              <a:endParaRPr b="1" sz="12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Centralized document management, lease tracking, and live expense control.</a:t>
              </a:r>
              <a:endParaRPr b="1" sz="95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4667250" y="3524250"/>
            <a:ext cx="3905400" cy="952500"/>
            <a:chOff x="0" y="0"/>
            <a:chExt cx="3905400" cy="952500"/>
          </a:xfrm>
        </p:grpSpPr>
        <p:sp>
          <p:nvSpPr>
            <p:cNvPr id="125" name="Google Shape;125;p16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228600" y="266700"/>
              <a:ext cx="419100" cy="419100"/>
            </a:xfrm>
            <a:prstGeom prst="ellipse">
              <a:avLst/>
            </a:prstGeom>
            <a:solidFill>
              <a:srgbClr val="FCE7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247650" y="34417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explore</a:t>
              </a:r>
              <a:endParaRPr b="0" sz="2000">
                <a:solidFill>
                  <a:srgbClr val="EC48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685800" y="152400"/>
              <a:ext cx="30480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Hyper-Local Insights</a:t>
              </a:r>
              <a:endParaRPr b="1" sz="12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Neighborhood recommendations, local culture tips, and community discovery.</a:t>
              </a:r>
              <a:endParaRPr b="1" sz="95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App Architecture &amp; Core Modules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20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Everything You Need in One Place</a:t>
            </a:r>
            <a:endParaRPr b="0" sz="120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571500" y="1285875"/>
            <a:ext cx="8001000" cy="3286200"/>
            <a:chOff x="0" y="0"/>
            <a:chExt cx="8001000" cy="3286200"/>
          </a:xfrm>
        </p:grpSpPr>
        <p:grpSp>
          <p:nvGrpSpPr>
            <p:cNvPr id="137" name="Google Shape;137;p17"/>
            <p:cNvGrpSpPr/>
            <p:nvPr/>
          </p:nvGrpSpPr>
          <p:grpSpPr>
            <a:xfrm>
              <a:off x="0" y="0"/>
              <a:ext cx="2476500" cy="1000200"/>
              <a:chOff x="0" y="0"/>
              <a:chExt cx="2476500" cy="1000200"/>
            </a:xfrm>
          </p:grpSpPr>
          <p:sp>
            <p:nvSpPr>
              <p:cNvPr id="138" name="Google Shape;138;p17"/>
              <p:cNvSpPr/>
              <p:nvPr/>
            </p:nvSpPr>
            <p:spPr>
              <a:xfrm>
                <a:off x="0" y="0"/>
                <a:ext cx="2476500" cy="1000200"/>
              </a:xfrm>
              <a:prstGeom prst="roundRect">
                <a:avLst>
                  <a:gd fmla="val 1523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7"/>
              <p:cNvSpPr/>
              <p:nvPr/>
            </p:nvSpPr>
            <p:spPr>
              <a:xfrm>
                <a:off x="190500" y="266700"/>
                <a:ext cx="457200" cy="4572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7"/>
              <p:cNvSpPr txBox="1"/>
              <p:nvPr/>
            </p:nvSpPr>
            <p:spPr>
              <a:xfrm>
                <a:off x="190500" y="298831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location_on</a:t>
                </a:r>
                <a:endParaRPr sz="22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1" name="Google Shape;141;p17"/>
              <p:cNvSpPr txBox="1"/>
              <p:nvPr/>
            </p:nvSpPr>
            <p:spPr>
              <a:xfrm>
                <a:off x="762000" y="1714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Neighborhood Matcher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AI location discovery &amp; insights</a:t>
                </a:r>
                <a:endParaRPr b="0" sz="90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2" name="Google Shape;142;p17"/>
            <p:cNvGrpSpPr/>
            <p:nvPr/>
          </p:nvGrpSpPr>
          <p:grpSpPr>
            <a:xfrm>
              <a:off x="2762250" y="0"/>
              <a:ext cx="2476500" cy="1000200"/>
              <a:chOff x="0" y="0"/>
              <a:chExt cx="2476500" cy="1000200"/>
            </a:xfrm>
          </p:grpSpPr>
          <p:sp>
            <p:nvSpPr>
              <p:cNvPr id="143" name="Google Shape;143;p17"/>
              <p:cNvSpPr/>
              <p:nvPr/>
            </p:nvSpPr>
            <p:spPr>
              <a:xfrm>
                <a:off x="0" y="0"/>
                <a:ext cx="2476500" cy="1000200"/>
              </a:xfrm>
              <a:prstGeom prst="roundRect">
                <a:avLst>
                  <a:gd fmla="val 1523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>
                <a:off x="190500" y="266700"/>
                <a:ext cx="457200" cy="4572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7"/>
              <p:cNvSpPr txBox="1"/>
              <p:nvPr/>
            </p:nvSpPr>
            <p:spPr>
              <a:xfrm>
                <a:off x="190500" y="298831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inventory_2</a:t>
                </a:r>
                <a:endParaRPr sz="22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6" name="Google Shape;146;p17"/>
              <p:cNvSpPr txBox="1"/>
              <p:nvPr/>
            </p:nvSpPr>
            <p:spPr>
              <a:xfrm>
                <a:off x="762000" y="1714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Smart Move Inventory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Organize &amp; track belongings</a:t>
                </a:r>
                <a:endParaRPr b="0" sz="90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7" name="Google Shape;147;p17"/>
            <p:cNvGrpSpPr/>
            <p:nvPr/>
          </p:nvGrpSpPr>
          <p:grpSpPr>
            <a:xfrm>
              <a:off x="5524500" y="0"/>
              <a:ext cx="2476500" cy="1000200"/>
              <a:chOff x="0" y="0"/>
              <a:chExt cx="2476500" cy="1000200"/>
            </a:xfrm>
          </p:grpSpPr>
          <p:sp>
            <p:nvSpPr>
              <p:cNvPr id="148" name="Google Shape;148;p17"/>
              <p:cNvSpPr/>
              <p:nvPr/>
            </p:nvSpPr>
            <p:spPr>
              <a:xfrm>
                <a:off x="0" y="0"/>
                <a:ext cx="2476500" cy="1000200"/>
              </a:xfrm>
              <a:prstGeom prst="roundRect">
                <a:avLst>
                  <a:gd fmla="val 1523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7"/>
              <p:cNvSpPr/>
              <p:nvPr/>
            </p:nvSpPr>
            <p:spPr>
              <a:xfrm>
                <a:off x="190500" y="266700"/>
                <a:ext cx="457200" cy="4572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7"/>
              <p:cNvSpPr txBox="1"/>
              <p:nvPr/>
            </p:nvSpPr>
            <p:spPr>
              <a:xfrm>
                <a:off x="190500" y="298831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smart_toy</a:t>
                </a:r>
                <a:endParaRPr sz="22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1" name="Google Shape;151;p17"/>
              <p:cNvSpPr txBox="1"/>
              <p:nvPr/>
            </p:nvSpPr>
            <p:spPr>
              <a:xfrm>
                <a:off x="762000" y="1714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AI Chat Agent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24/7 personal relocation assistant</a:t>
                </a:r>
                <a:endParaRPr b="0" sz="90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2" name="Google Shape;152;p17"/>
            <p:cNvGrpSpPr/>
            <p:nvPr/>
          </p:nvGrpSpPr>
          <p:grpSpPr>
            <a:xfrm>
              <a:off x="0" y="1143000"/>
              <a:ext cx="2476500" cy="1000200"/>
              <a:chOff x="0" y="0"/>
              <a:chExt cx="2476500" cy="1000200"/>
            </a:xfrm>
          </p:grpSpPr>
          <p:sp>
            <p:nvSpPr>
              <p:cNvPr id="153" name="Google Shape;153;p17"/>
              <p:cNvSpPr/>
              <p:nvPr/>
            </p:nvSpPr>
            <p:spPr>
              <a:xfrm>
                <a:off x="0" y="0"/>
                <a:ext cx="2476500" cy="1000200"/>
              </a:xfrm>
              <a:prstGeom prst="roundRect">
                <a:avLst>
                  <a:gd fmla="val 1523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7"/>
              <p:cNvSpPr/>
              <p:nvPr/>
            </p:nvSpPr>
            <p:spPr>
              <a:xfrm>
                <a:off x="190500" y="266700"/>
                <a:ext cx="457200" cy="4572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7"/>
              <p:cNvSpPr txBox="1"/>
              <p:nvPr/>
            </p:nvSpPr>
            <p:spPr>
              <a:xfrm>
                <a:off x="190500" y="298831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</a:t>
                </a:r>
                <a:endParaRPr sz="22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6" name="Google Shape;156;p17"/>
              <p:cNvSpPr txBox="1"/>
              <p:nvPr/>
            </p:nvSpPr>
            <p:spPr>
              <a:xfrm>
                <a:off x="762000" y="1714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Setup Checklist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Tailored step-by-step tasks</a:t>
                </a:r>
                <a:endParaRPr b="0" sz="90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7" name="Google Shape;157;p17"/>
            <p:cNvGrpSpPr/>
            <p:nvPr/>
          </p:nvGrpSpPr>
          <p:grpSpPr>
            <a:xfrm>
              <a:off x="2762250" y="1143000"/>
              <a:ext cx="2476500" cy="1000200"/>
              <a:chOff x="0" y="0"/>
              <a:chExt cx="2476500" cy="1000200"/>
            </a:xfrm>
          </p:grpSpPr>
          <p:sp>
            <p:nvSpPr>
              <p:cNvPr id="158" name="Google Shape;158;p17"/>
              <p:cNvSpPr/>
              <p:nvPr/>
            </p:nvSpPr>
            <p:spPr>
              <a:xfrm>
                <a:off x="0" y="0"/>
                <a:ext cx="2476500" cy="1000200"/>
              </a:xfrm>
              <a:prstGeom prst="roundRect">
                <a:avLst>
                  <a:gd fmla="val 1523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7"/>
              <p:cNvSpPr/>
              <p:nvPr/>
            </p:nvSpPr>
            <p:spPr>
              <a:xfrm>
                <a:off x="190500" y="266700"/>
                <a:ext cx="457200" cy="4572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7"/>
              <p:cNvSpPr txBox="1"/>
              <p:nvPr/>
            </p:nvSpPr>
            <p:spPr>
              <a:xfrm>
                <a:off x="190500" y="298831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description</a:t>
                </a:r>
                <a:endParaRPr sz="22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1" name="Google Shape;161;p17"/>
              <p:cNvSpPr txBox="1"/>
              <p:nvPr/>
            </p:nvSpPr>
            <p:spPr>
              <a:xfrm>
                <a:off x="762000" y="1714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Document Tracker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Centralized gov &amp; lease vault</a:t>
                </a:r>
                <a:endParaRPr b="0" sz="90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" name="Google Shape;162;p17"/>
            <p:cNvGrpSpPr/>
            <p:nvPr/>
          </p:nvGrpSpPr>
          <p:grpSpPr>
            <a:xfrm>
              <a:off x="5524500" y="1143000"/>
              <a:ext cx="2476500" cy="1000200"/>
              <a:chOff x="0" y="0"/>
              <a:chExt cx="2476500" cy="1000200"/>
            </a:xfrm>
          </p:grpSpPr>
          <p:sp>
            <p:nvSpPr>
              <p:cNvPr id="163" name="Google Shape;163;p17"/>
              <p:cNvSpPr/>
              <p:nvPr/>
            </p:nvSpPr>
            <p:spPr>
              <a:xfrm>
                <a:off x="0" y="0"/>
                <a:ext cx="2476500" cy="1000200"/>
              </a:xfrm>
              <a:prstGeom prst="roundRect">
                <a:avLst>
                  <a:gd fmla="val 1523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7"/>
              <p:cNvSpPr/>
              <p:nvPr/>
            </p:nvSpPr>
            <p:spPr>
              <a:xfrm>
                <a:off x="190500" y="266700"/>
                <a:ext cx="457200" cy="4572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190500" y="298831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account_balance_wallet</a:t>
                </a:r>
                <a:endParaRPr sz="22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6" name="Google Shape;166;p17"/>
              <p:cNvSpPr txBox="1"/>
              <p:nvPr/>
            </p:nvSpPr>
            <p:spPr>
              <a:xfrm>
                <a:off x="762000" y="1714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Cost &amp; Budget Planner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Real-time expense monitoring</a:t>
                </a:r>
                <a:endParaRPr b="0" sz="90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7" name="Google Shape;167;p17"/>
            <p:cNvGrpSpPr/>
            <p:nvPr/>
          </p:nvGrpSpPr>
          <p:grpSpPr>
            <a:xfrm>
              <a:off x="2762250" y="2286000"/>
              <a:ext cx="2476500" cy="1000200"/>
              <a:chOff x="0" y="0"/>
              <a:chExt cx="2476500" cy="1000200"/>
            </a:xfrm>
          </p:grpSpPr>
          <p:sp>
            <p:nvSpPr>
              <p:cNvPr id="168" name="Google Shape;168;p17"/>
              <p:cNvSpPr/>
              <p:nvPr/>
            </p:nvSpPr>
            <p:spPr>
              <a:xfrm>
                <a:off x="0" y="0"/>
                <a:ext cx="2476500" cy="1000200"/>
              </a:xfrm>
              <a:prstGeom prst="roundRect">
                <a:avLst>
                  <a:gd fmla="val 15238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7"/>
              <p:cNvSpPr/>
              <p:nvPr/>
            </p:nvSpPr>
            <p:spPr>
              <a:xfrm>
                <a:off x="190500" y="266700"/>
                <a:ext cx="457200" cy="4572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7"/>
              <p:cNvSpPr txBox="1"/>
              <p:nvPr/>
            </p:nvSpPr>
            <p:spPr>
              <a:xfrm>
                <a:off x="190500" y="298831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flight_takeoff</a:t>
                </a:r>
                <a:endParaRPr sz="22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71" name="Google Shape;171;p17"/>
              <p:cNvSpPr txBox="1"/>
              <p:nvPr/>
            </p:nvSpPr>
            <p:spPr>
              <a:xfrm>
                <a:off x="762000" y="1714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Aviation Telemetry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Live flight &amp; travel tracking</a:t>
                </a:r>
                <a:endParaRPr b="0" sz="90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Feature Deep Dive Dashboard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120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Your Personalized Command Center</a:t>
            </a:r>
            <a:endParaRPr b="0" sz="120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179" name="Google Shape;179;p18"/>
          <p:cNvGrpSpPr/>
          <p:nvPr/>
        </p:nvGrpSpPr>
        <p:grpSpPr>
          <a:xfrm>
            <a:off x="571500" y="1238250"/>
            <a:ext cx="8001000" cy="904800"/>
            <a:chOff x="0" y="0"/>
            <a:chExt cx="8001000" cy="904800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0"/>
              <a:ext cx="8001000" cy="904800"/>
            </a:xfrm>
            <a:prstGeom prst="roundRect">
              <a:avLst>
                <a:gd fmla="val 16842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190500" y="114300"/>
              <a:ext cx="762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Real-Time Task Overview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82" name="Google Shape;182;p18"/>
            <p:cNvGrpSpPr/>
            <p:nvPr/>
          </p:nvGrpSpPr>
          <p:grpSpPr>
            <a:xfrm>
              <a:off x="190500" y="381000"/>
              <a:ext cx="1714500" cy="400200"/>
              <a:chOff x="0" y="0"/>
              <a:chExt cx="1714500" cy="400200"/>
            </a:xfrm>
          </p:grpSpPr>
          <p:sp>
            <p:nvSpPr>
              <p:cNvPr id="183" name="Google Shape;183;p18"/>
              <p:cNvSpPr/>
              <p:nvPr/>
            </p:nvSpPr>
            <p:spPr>
              <a:xfrm>
                <a:off x="0" y="0"/>
                <a:ext cx="17145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F9FAF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8"/>
              <p:cNvSpPr txBox="1"/>
              <p:nvPr/>
            </p:nvSpPr>
            <p:spPr>
              <a:xfrm>
                <a:off x="114300" y="571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23">
                    <a:solidFill>
                      <a:srgbClr val="6B7280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Total</a:t>
                </a:r>
                <a:r>
                  <a:rPr b="0" lang="en-GB" sz="1870">
                    <a:solidFill>
                      <a:srgbClr val="1F2937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55</a:t>
                </a:r>
                <a:endParaRPr sz="1190"/>
              </a:p>
            </p:txBody>
          </p:sp>
        </p:grpSp>
        <p:grpSp>
          <p:nvGrpSpPr>
            <p:cNvPr id="185" name="Google Shape;185;p18"/>
            <p:cNvGrpSpPr/>
            <p:nvPr/>
          </p:nvGrpSpPr>
          <p:grpSpPr>
            <a:xfrm>
              <a:off x="2028825" y="381000"/>
              <a:ext cx="1714500" cy="400200"/>
              <a:chOff x="0" y="0"/>
              <a:chExt cx="1714500" cy="400200"/>
            </a:xfrm>
          </p:grpSpPr>
          <p:sp>
            <p:nvSpPr>
              <p:cNvPr id="186" name="Google Shape;186;p18"/>
              <p:cNvSpPr/>
              <p:nvPr/>
            </p:nvSpPr>
            <p:spPr>
              <a:xfrm>
                <a:off x="0" y="0"/>
                <a:ext cx="17145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ECFD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8"/>
              <p:cNvSpPr txBox="1"/>
              <p:nvPr/>
            </p:nvSpPr>
            <p:spPr>
              <a:xfrm>
                <a:off x="114300" y="571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23">
                    <a:solidFill>
                      <a:srgbClr val="0596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Completed</a:t>
                </a:r>
                <a:r>
                  <a:rPr b="0" lang="en-GB" sz="1870">
                    <a:solidFill>
                      <a:srgbClr val="10B981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6</a:t>
                </a:r>
                <a:endParaRPr sz="1190"/>
              </a:p>
            </p:txBody>
          </p:sp>
        </p:grpSp>
        <p:grpSp>
          <p:nvGrpSpPr>
            <p:cNvPr id="188" name="Google Shape;188;p18"/>
            <p:cNvGrpSpPr/>
            <p:nvPr/>
          </p:nvGrpSpPr>
          <p:grpSpPr>
            <a:xfrm>
              <a:off x="3867150" y="381000"/>
              <a:ext cx="1714500" cy="400200"/>
              <a:chOff x="0" y="0"/>
              <a:chExt cx="1714500" cy="400200"/>
            </a:xfrm>
          </p:grpSpPr>
          <p:sp>
            <p:nvSpPr>
              <p:cNvPr id="189" name="Google Shape;189;p18"/>
              <p:cNvSpPr/>
              <p:nvPr/>
            </p:nvSpPr>
            <p:spPr>
              <a:xfrm>
                <a:off x="0" y="0"/>
                <a:ext cx="17145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8"/>
              <p:cNvSpPr txBox="1"/>
              <p:nvPr/>
            </p:nvSpPr>
            <p:spPr>
              <a:xfrm>
                <a:off x="114300" y="571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23">
                    <a:solidFill>
                      <a:srgbClr val="2563E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Pending</a:t>
                </a:r>
                <a:r>
                  <a:rPr b="0" lang="en-GB" sz="1870">
                    <a:solidFill>
                      <a:srgbClr val="3B82F6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49</a:t>
                </a:r>
                <a:endParaRPr sz="1190"/>
              </a:p>
            </p:txBody>
          </p:sp>
        </p:grpSp>
        <p:grpSp>
          <p:nvGrpSpPr>
            <p:cNvPr id="191" name="Google Shape;191;p18"/>
            <p:cNvGrpSpPr/>
            <p:nvPr/>
          </p:nvGrpSpPr>
          <p:grpSpPr>
            <a:xfrm>
              <a:off x="5715000" y="381000"/>
              <a:ext cx="1714500" cy="400200"/>
              <a:chOff x="0" y="0"/>
              <a:chExt cx="1714500" cy="400200"/>
            </a:xfrm>
          </p:grpSpPr>
          <p:sp>
            <p:nvSpPr>
              <p:cNvPr id="192" name="Google Shape;192;p18"/>
              <p:cNvSpPr/>
              <p:nvPr/>
            </p:nvSpPr>
            <p:spPr>
              <a:xfrm>
                <a:off x="0" y="0"/>
                <a:ext cx="17145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FEF2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8"/>
              <p:cNvSpPr txBox="1"/>
              <p:nvPr/>
            </p:nvSpPr>
            <p:spPr>
              <a:xfrm>
                <a:off x="114300" y="57150"/>
                <a:ext cx="14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23">
                    <a:solidFill>
                      <a:srgbClr val="DC2626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Critical</a:t>
                </a:r>
                <a:r>
                  <a:rPr b="0" lang="en-GB" sz="1870">
                    <a:solidFill>
                      <a:srgbClr val="EF4444"/>
                    </a:solidFill>
                    <a:latin typeface="Poppins ExtraBold"/>
                    <a:ea typeface="Poppins ExtraBold"/>
                    <a:cs typeface="Poppins ExtraBold"/>
                    <a:sym typeface="Poppins ExtraBold"/>
                  </a:rPr>
                  <a:t>7</a:t>
                </a:r>
                <a:endParaRPr sz="1190"/>
              </a:p>
            </p:txBody>
          </p:sp>
        </p:grpSp>
      </p:grpSp>
      <p:grpSp>
        <p:nvGrpSpPr>
          <p:cNvPr id="194" name="Google Shape;194;p18"/>
          <p:cNvGrpSpPr/>
          <p:nvPr/>
        </p:nvGrpSpPr>
        <p:grpSpPr>
          <a:xfrm>
            <a:off x="571500" y="2333625"/>
            <a:ext cx="3857700" cy="2333700"/>
            <a:chOff x="0" y="0"/>
            <a:chExt cx="3857700" cy="2333700"/>
          </a:xfrm>
        </p:grpSpPr>
        <p:sp>
          <p:nvSpPr>
            <p:cNvPr id="195" name="Google Shape;195;p18"/>
            <p:cNvSpPr/>
            <p:nvPr/>
          </p:nvSpPr>
          <p:spPr>
            <a:xfrm>
              <a:off x="0" y="0"/>
              <a:ext cx="3857700" cy="2333700"/>
            </a:xfrm>
            <a:prstGeom prst="roundRect">
              <a:avLst>
                <a:gd fmla="val 6530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90500" y="171450"/>
              <a:ext cx="3476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Relocation Context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97" name="Google Shape;197;p18"/>
            <p:cNvGrpSpPr/>
            <p:nvPr/>
          </p:nvGrpSpPr>
          <p:grpSpPr>
            <a:xfrm>
              <a:off x="190500" y="495300"/>
              <a:ext cx="3476700" cy="495300"/>
              <a:chOff x="0" y="0"/>
              <a:chExt cx="3476700" cy="495300"/>
            </a:xfrm>
          </p:grpSpPr>
          <p:sp>
            <p:nvSpPr>
              <p:cNvPr id="198" name="Google Shape;198;p18"/>
              <p:cNvSpPr/>
              <p:nvPr/>
            </p:nvSpPr>
            <p:spPr>
              <a:xfrm>
                <a:off x="0" y="0"/>
                <a:ext cx="3476700" cy="495300"/>
              </a:xfrm>
              <a:prstGeom prst="roundRect">
                <a:avLst>
                  <a:gd fmla="val 19230" name="adj"/>
                </a:avLst>
              </a:prstGeom>
              <a:solidFill>
                <a:srgbClr val="EEF2FF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8"/>
              <p:cNvSpPr txBox="1"/>
              <p:nvPr/>
            </p:nvSpPr>
            <p:spPr>
              <a:xfrm>
                <a:off x="114300" y="95250"/>
                <a:ext cx="3248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23">
                    <a:solidFill>
                      <a:srgbClr val="6366F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Destination</a:t>
                </a:r>
                <a:endParaRPr b="0" sz="723">
                  <a:solidFill>
                    <a:srgbClr val="6366F1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Bhubaneswar, India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00" name="Google Shape;200;p18"/>
            <p:cNvGrpSpPr/>
            <p:nvPr/>
          </p:nvGrpSpPr>
          <p:grpSpPr>
            <a:xfrm>
              <a:off x="190500" y="1066800"/>
              <a:ext cx="3476700" cy="495300"/>
              <a:chOff x="0" y="0"/>
              <a:chExt cx="3476700" cy="495300"/>
            </a:xfrm>
          </p:grpSpPr>
          <p:sp>
            <p:nvSpPr>
              <p:cNvPr id="201" name="Google Shape;201;p18"/>
              <p:cNvSpPr/>
              <p:nvPr/>
            </p:nvSpPr>
            <p:spPr>
              <a:xfrm>
                <a:off x="0" y="0"/>
                <a:ext cx="3476700" cy="495300"/>
              </a:xfrm>
              <a:prstGeom prst="roundRect">
                <a:avLst>
                  <a:gd fmla="val 19230" name="adj"/>
                </a:avLst>
              </a:prstGeom>
              <a:solidFill>
                <a:srgbClr val="FCE7F3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8"/>
              <p:cNvSpPr txBox="1"/>
              <p:nvPr/>
            </p:nvSpPr>
            <p:spPr>
              <a:xfrm>
                <a:off x="114300" y="95250"/>
                <a:ext cx="3248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23">
                    <a:solidFill>
                      <a:srgbClr val="EC489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Move Type</a:t>
                </a:r>
                <a:endParaRPr b="0" sz="723">
                  <a:solidFill>
                    <a:srgbClr val="EC489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Corporate / IT Career Move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03" name="Google Shape;203;p18"/>
            <p:cNvGrpSpPr/>
            <p:nvPr/>
          </p:nvGrpSpPr>
          <p:grpSpPr>
            <a:xfrm>
              <a:off x="190500" y="1638300"/>
              <a:ext cx="3476700" cy="495300"/>
              <a:chOff x="0" y="0"/>
              <a:chExt cx="3476700" cy="495300"/>
            </a:xfrm>
          </p:grpSpPr>
          <p:sp>
            <p:nvSpPr>
              <p:cNvPr id="204" name="Google Shape;204;p18"/>
              <p:cNvSpPr/>
              <p:nvPr/>
            </p:nvSpPr>
            <p:spPr>
              <a:xfrm>
                <a:off x="0" y="0"/>
                <a:ext cx="3476700" cy="495300"/>
              </a:xfrm>
              <a:prstGeom prst="roundRect">
                <a:avLst>
                  <a:gd fmla="val 19230" name="adj"/>
                </a:avLst>
              </a:prstGeom>
              <a:solidFill>
                <a:srgbClr val="EEF2FF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8"/>
              <p:cNvSpPr txBox="1"/>
              <p:nvPr/>
            </p:nvSpPr>
            <p:spPr>
              <a:xfrm>
                <a:off x="114300" y="95250"/>
                <a:ext cx="3248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23">
                    <a:solidFill>
                      <a:srgbClr val="6366F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Household Size</a:t>
                </a:r>
                <a:endParaRPr b="0" sz="723">
                  <a:solidFill>
                    <a:srgbClr val="6366F1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Family of 4 (with Kids)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06" name="Google Shape;206;p18"/>
          <p:cNvGrpSpPr/>
          <p:nvPr/>
        </p:nvGrpSpPr>
        <p:grpSpPr>
          <a:xfrm>
            <a:off x="4714875" y="2333625"/>
            <a:ext cx="3857700" cy="2333700"/>
            <a:chOff x="0" y="0"/>
            <a:chExt cx="3857700" cy="2333700"/>
          </a:xfrm>
        </p:grpSpPr>
        <p:sp>
          <p:nvSpPr>
            <p:cNvPr id="207" name="Google Shape;207;p18"/>
            <p:cNvSpPr/>
            <p:nvPr/>
          </p:nvSpPr>
          <p:spPr>
            <a:xfrm>
              <a:off x="0" y="0"/>
              <a:ext cx="3857700" cy="2333700"/>
            </a:xfrm>
            <a:prstGeom prst="roundRect">
              <a:avLst>
                <a:gd fmla="val 6530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190500" y="171450"/>
              <a:ext cx="3476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Insider Tips &amp; Local Culture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09" name="Google Shape;209;p18"/>
            <p:cNvGrpSpPr/>
            <p:nvPr/>
          </p:nvGrpSpPr>
          <p:grpSpPr>
            <a:xfrm>
              <a:off x="190500" y="523875"/>
              <a:ext cx="3476700" cy="428700"/>
              <a:chOff x="0" y="0"/>
              <a:chExt cx="3476700" cy="428700"/>
            </a:xfrm>
          </p:grpSpPr>
          <p:sp>
            <p:nvSpPr>
              <p:cNvPr id="210" name="Google Shape;210;p18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8"/>
              <p:cNvSpPr txBox="1"/>
              <p:nvPr/>
            </p:nvSpPr>
            <p:spPr>
              <a:xfrm>
                <a:off x="0" y="61468"/>
                <a:ext cx="304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temple_hindu</a:t>
                </a:r>
                <a:endParaRPr sz="16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12" name="Google Shape;212;p18"/>
              <p:cNvSpPr txBox="1"/>
              <p:nvPr/>
            </p:nvSpPr>
            <p:spPr>
              <a:xfrm>
                <a:off x="419100" y="0"/>
                <a:ext cx="30576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37415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Visit Lingaraj &amp; Mukteswar temples early morning for peaceful heritage walks.</a:t>
                </a:r>
                <a:endParaRPr b="0" sz="950">
                  <a:solidFill>
                    <a:srgbClr val="37415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213" name="Google Shape;213;p18"/>
            <p:cNvGrpSpPr/>
            <p:nvPr/>
          </p:nvGrpSpPr>
          <p:grpSpPr>
            <a:xfrm>
              <a:off x="190500" y="1095375"/>
              <a:ext cx="3476700" cy="428700"/>
              <a:chOff x="0" y="0"/>
              <a:chExt cx="3476700" cy="428700"/>
            </a:xfrm>
          </p:grpSpPr>
          <p:sp>
            <p:nvSpPr>
              <p:cNvPr id="214" name="Google Shape;214;p18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8"/>
              <p:cNvSpPr txBox="1"/>
              <p:nvPr/>
            </p:nvSpPr>
            <p:spPr>
              <a:xfrm>
                <a:off x="0" y="61468"/>
                <a:ext cx="304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shopping_bag</a:t>
                </a:r>
                <a:endParaRPr sz="16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16" name="Google Shape;216;p18"/>
              <p:cNvSpPr txBox="1"/>
              <p:nvPr/>
            </p:nvSpPr>
            <p:spPr>
              <a:xfrm>
                <a:off x="419100" y="0"/>
                <a:ext cx="30576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37415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Shop at Ekamra Haat for authentic Odisha handloom, Sambalpuri sarees &amp; Pattachitra art.</a:t>
                </a:r>
                <a:endParaRPr b="0" sz="950">
                  <a:solidFill>
                    <a:srgbClr val="37415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217" name="Google Shape;217;p18"/>
            <p:cNvGrpSpPr/>
            <p:nvPr/>
          </p:nvGrpSpPr>
          <p:grpSpPr>
            <a:xfrm>
              <a:off x="190500" y="1666875"/>
              <a:ext cx="3476700" cy="428700"/>
              <a:chOff x="0" y="0"/>
              <a:chExt cx="3476700" cy="428700"/>
            </a:xfrm>
          </p:grpSpPr>
          <p:sp>
            <p:nvSpPr>
              <p:cNvPr id="218" name="Google Shape;218;p18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8"/>
              <p:cNvSpPr txBox="1"/>
              <p:nvPr/>
            </p:nvSpPr>
            <p:spPr>
              <a:xfrm>
                <a:off x="0" y="61468"/>
                <a:ext cx="304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restaurant</a:t>
                </a:r>
                <a:endParaRPr sz="16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20" name="Google Shape;220;p18"/>
              <p:cNvSpPr txBox="1"/>
              <p:nvPr/>
            </p:nvSpPr>
            <p:spPr>
              <a:xfrm>
                <a:off x="419100" y="0"/>
                <a:ext cx="30576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37415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Try authentic Odia Pahala Rasagola, Chhena Poda, and local street delicacies.</a:t>
                </a:r>
                <a:endParaRPr b="0" sz="950">
                  <a:solidFill>
                    <a:srgbClr val="37415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Neighborhood Matcher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102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Find Your Perfect Home</a:t>
            </a:r>
            <a:endParaRPr b="0" sz="102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228" name="Google Shape;228;p19"/>
          <p:cNvGrpSpPr/>
          <p:nvPr/>
        </p:nvGrpSpPr>
        <p:grpSpPr>
          <a:xfrm>
            <a:off x="571500" y="1238250"/>
            <a:ext cx="3857700" cy="3429000"/>
            <a:chOff x="0" y="0"/>
            <a:chExt cx="3857700" cy="3429000"/>
          </a:xfrm>
        </p:grpSpPr>
        <p:sp>
          <p:nvSpPr>
            <p:cNvPr id="229" name="Google Shape;229;p19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190500" y="190500"/>
              <a:ext cx="3476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Live Match Calculator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Filter preferences to find best-fit locations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31" name="Google Shape;231;p19"/>
            <p:cNvGrpSpPr/>
            <p:nvPr/>
          </p:nvGrpSpPr>
          <p:grpSpPr>
            <a:xfrm>
              <a:off x="190500" y="714375"/>
              <a:ext cx="1666800" cy="400200"/>
              <a:chOff x="0" y="0"/>
              <a:chExt cx="1666800" cy="400200"/>
            </a:xfrm>
          </p:grpSpPr>
          <p:sp>
            <p:nvSpPr>
              <p:cNvPr id="232" name="Google Shape;232;p19"/>
              <p:cNvSpPr/>
              <p:nvPr/>
            </p:nvSpPr>
            <p:spPr>
              <a:xfrm>
                <a:off x="0" y="0"/>
                <a:ext cx="1666800" cy="400200"/>
              </a:xfrm>
              <a:prstGeom prst="roundRect">
                <a:avLst>
                  <a:gd fmla="val 50000" name="adj"/>
                </a:avLst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9"/>
              <p:cNvSpPr/>
              <p:nvPr/>
            </p:nvSpPr>
            <p:spPr>
              <a:xfrm>
                <a:off x="57150" y="57150"/>
                <a:ext cx="285900" cy="285900"/>
              </a:xfrm>
              <a:prstGeom prst="ellipse">
                <a:avLst/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9"/>
              <p:cNvSpPr txBox="1"/>
              <p:nvPr/>
            </p:nvSpPr>
            <p:spPr>
              <a:xfrm>
                <a:off x="57150" y="131826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2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subway</a:t>
                </a:r>
                <a:endParaRPr sz="102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5" name="Google Shape;235;p19"/>
              <p:cNvSpPr txBox="1"/>
              <p:nvPr/>
            </p:nvSpPr>
            <p:spPr>
              <a:xfrm>
                <a:off x="419100" y="11430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4338CA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Metro Access</a:t>
                </a:r>
                <a:endParaRPr b="0" sz="850">
                  <a:solidFill>
                    <a:srgbClr val="4338CA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236" name="Google Shape;236;p19"/>
            <p:cNvGrpSpPr/>
            <p:nvPr/>
          </p:nvGrpSpPr>
          <p:grpSpPr>
            <a:xfrm>
              <a:off x="1952625" y="714375"/>
              <a:ext cx="1714500" cy="400200"/>
              <a:chOff x="0" y="0"/>
              <a:chExt cx="1714500" cy="400200"/>
            </a:xfrm>
          </p:grpSpPr>
          <p:sp>
            <p:nvSpPr>
              <p:cNvPr id="237" name="Google Shape;237;p19"/>
              <p:cNvSpPr/>
              <p:nvPr/>
            </p:nvSpPr>
            <p:spPr>
              <a:xfrm>
                <a:off x="0" y="0"/>
                <a:ext cx="1714500" cy="400200"/>
              </a:xfrm>
              <a:prstGeom prst="roundRect">
                <a:avLst>
                  <a:gd fmla="val 50000" name="adj"/>
                </a:avLst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>
                <a:off x="57150" y="57150"/>
                <a:ext cx="285900" cy="285900"/>
              </a:xfrm>
              <a:prstGeom prst="ellipse">
                <a:avLst/>
              </a:prstGeom>
              <a:solidFill>
                <a:srgbClr val="EC48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9"/>
              <p:cNvSpPr txBox="1"/>
              <p:nvPr/>
            </p:nvSpPr>
            <p:spPr>
              <a:xfrm>
                <a:off x="57150" y="131826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2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school</a:t>
                </a:r>
                <a:endParaRPr sz="102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40" name="Google Shape;240;p19"/>
              <p:cNvSpPr txBox="1"/>
              <p:nvPr/>
            </p:nvSpPr>
            <p:spPr>
              <a:xfrm>
                <a:off x="419100" y="114300"/>
                <a:ext cx="1200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BE185D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Top Schools</a:t>
                </a:r>
                <a:endParaRPr b="0" sz="850">
                  <a:solidFill>
                    <a:srgbClr val="BE185D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241" name="Google Shape;241;p19"/>
            <p:cNvGrpSpPr/>
            <p:nvPr/>
          </p:nvGrpSpPr>
          <p:grpSpPr>
            <a:xfrm>
              <a:off x="190500" y="1209675"/>
              <a:ext cx="1666800" cy="400200"/>
              <a:chOff x="0" y="0"/>
              <a:chExt cx="1666800" cy="400200"/>
            </a:xfrm>
          </p:grpSpPr>
          <p:sp>
            <p:nvSpPr>
              <p:cNvPr id="242" name="Google Shape;242;p19"/>
              <p:cNvSpPr/>
              <p:nvPr/>
            </p:nvSpPr>
            <p:spPr>
              <a:xfrm>
                <a:off x="0" y="0"/>
                <a:ext cx="1666800" cy="400200"/>
              </a:xfrm>
              <a:prstGeom prst="roundRect">
                <a:avLst>
                  <a:gd fmla="val 50000" name="adj"/>
                </a:avLst>
              </a:prstGeom>
              <a:solidFill>
                <a:srgbClr val="ECFD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9"/>
              <p:cNvSpPr/>
              <p:nvPr/>
            </p:nvSpPr>
            <p:spPr>
              <a:xfrm>
                <a:off x="57150" y="57150"/>
                <a:ext cx="285900" cy="2859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9"/>
              <p:cNvSpPr txBox="1"/>
              <p:nvPr/>
            </p:nvSpPr>
            <p:spPr>
              <a:xfrm>
                <a:off x="57150" y="131826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2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verified_user</a:t>
                </a:r>
                <a:endParaRPr sz="102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45" name="Google Shape;245;p19"/>
              <p:cNvSpPr txBox="1"/>
              <p:nvPr/>
            </p:nvSpPr>
            <p:spPr>
              <a:xfrm>
                <a:off x="419100" y="11430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04785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High Safety</a:t>
                </a:r>
                <a:endParaRPr b="0" sz="850">
                  <a:solidFill>
                    <a:srgbClr val="047857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246" name="Google Shape;246;p19"/>
            <p:cNvGrpSpPr/>
            <p:nvPr/>
          </p:nvGrpSpPr>
          <p:grpSpPr>
            <a:xfrm>
              <a:off x="1952625" y="1209675"/>
              <a:ext cx="1714500" cy="400200"/>
              <a:chOff x="0" y="0"/>
              <a:chExt cx="1714500" cy="400200"/>
            </a:xfrm>
          </p:grpSpPr>
          <p:sp>
            <p:nvSpPr>
              <p:cNvPr id="247" name="Google Shape;247;p19"/>
              <p:cNvSpPr/>
              <p:nvPr/>
            </p:nvSpPr>
            <p:spPr>
              <a:xfrm>
                <a:off x="0" y="0"/>
                <a:ext cx="1714500" cy="400200"/>
              </a:xfrm>
              <a:prstGeom prst="roundRect">
                <a:avLst>
                  <a:gd fmla="val 50000" name="adj"/>
                </a:avLst>
              </a:prstGeom>
              <a:solidFill>
                <a:srgbClr val="FEF3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57150" y="57150"/>
                <a:ext cx="285900" cy="2859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9"/>
              <p:cNvSpPr txBox="1"/>
              <p:nvPr/>
            </p:nvSpPr>
            <p:spPr>
              <a:xfrm>
                <a:off x="57150" y="131826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2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park</a:t>
                </a:r>
                <a:endParaRPr sz="102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50" name="Google Shape;250;p19"/>
              <p:cNvSpPr txBox="1"/>
              <p:nvPr/>
            </p:nvSpPr>
            <p:spPr>
              <a:xfrm>
                <a:off x="419100" y="114300"/>
                <a:ext cx="1200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B4530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Parks &amp; Green</a:t>
                </a:r>
                <a:endParaRPr b="0" sz="850">
                  <a:solidFill>
                    <a:srgbClr val="B4530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251" name="Google Shape;251;p19"/>
            <p:cNvGrpSpPr/>
            <p:nvPr/>
          </p:nvGrpSpPr>
          <p:grpSpPr>
            <a:xfrm>
              <a:off x="190500" y="1809750"/>
              <a:ext cx="3476700" cy="1381200"/>
              <a:chOff x="0" y="0"/>
              <a:chExt cx="3476700" cy="1381200"/>
            </a:xfrm>
          </p:grpSpPr>
          <p:sp>
            <p:nvSpPr>
              <p:cNvPr id="252" name="Google Shape;252;p19"/>
              <p:cNvSpPr/>
              <p:nvPr/>
            </p:nvSpPr>
            <p:spPr>
              <a:xfrm>
                <a:off x="0" y="0"/>
                <a:ext cx="3476700" cy="1381200"/>
              </a:xfrm>
              <a:prstGeom prst="roundRect">
                <a:avLst>
                  <a:gd fmla="val 8275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9"/>
              <p:cNvSpPr txBox="1"/>
              <p:nvPr/>
            </p:nvSpPr>
            <p:spPr>
              <a:xfrm>
                <a:off x="152400" y="133350"/>
                <a:ext cx="31719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950">
                    <a:solidFill>
                      <a:srgbClr val="37415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Algorithm Highlights</a:t>
                </a:r>
                <a:endParaRPr b="0" sz="950">
                  <a:solidFill>
                    <a:srgbClr val="374151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• Real-time score recalculation based on commute times</a:t>
                </a:r>
                <a:endParaRPr b="0" sz="90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• Safety index compiled from verified local data</a:t>
                </a:r>
                <a:endParaRPr b="0" sz="90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4B556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• Walkability &amp; green space proximity factors</a:t>
                </a:r>
                <a:endParaRPr b="0" sz="90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54" name="Google Shape;254;p19"/>
          <p:cNvGrpSpPr/>
          <p:nvPr/>
        </p:nvGrpSpPr>
        <p:grpSpPr>
          <a:xfrm>
            <a:off x="4714875" y="1238250"/>
            <a:ext cx="3857700" cy="3429000"/>
            <a:chOff x="0" y="0"/>
            <a:chExt cx="3857700" cy="3429000"/>
          </a:xfrm>
        </p:grpSpPr>
        <p:sp>
          <p:nvSpPr>
            <p:cNvPr id="255" name="Google Shape;255;p19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190500" y="190500"/>
              <a:ext cx="3476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Curated Enclaves &amp; Insights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Compare verified apartments with transparent pricing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57" name="Google Shape;257;p19"/>
            <p:cNvGrpSpPr/>
            <p:nvPr/>
          </p:nvGrpSpPr>
          <p:grpSpPr>
            <a:xfrm>
              <a:off x="190500" y="714375"/>
              <a:ext cx="3476700" cy="1190700"/>
              <a:chOff x="0" y="0"/>
              <a:chExt cx="3476700" cy="1190700"/>
            </a:xfrm>
          </p:grpSpPr>
          <p:sp>
            <p:nvSpPr>
              <p:cNvPr id="258" name="Google Shape;258;p19"/>
              <p:cNvSpPr/>
              <p:nvPr/>
            </p:nvSpPr>
            <p:spPr>
              <a:xfrm>
                <a:off x="0" y="0"/>
                <a:ext cx="3476700" cy="1190700"/>
              </a:xfrm>
              <a:prstGeom prst="roundRect">
                <a:avLst>
                  <a:gd fmla="val 9600" name="adj"/>
                </a:avLst>
              </a:prstGeom>
              <a:solidFill>
                <a:srgbClr val="EEF2FF">
                  <a:alpha val="40000"/>
                </a:srgbClr>
              </a:solidFill>
              <a:ln cap="flat" cmpd="sng" w="9525">
                <a:solidFill>
                  <a:srgbClr val="C7D2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9"/>
              <p:cNvSpPr txBox="1"/>
              <p:nvPr/>
            </p:nvSpPr>
            <p:spPr>
              <a:xfrm>
                <a:off x="152400" y="114300"/>
                <a:ext cx="2190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Patia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IT Hub, Vibrant Nightlife, Modern Apts</a:t>
                </a:r>
                <a:endParaRPr b="0" sz="85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GB" sz="1020">
                    <a:solidFill>
                      <a:srgbClr val="4338C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₹25,000</a:t>
                </a:r>
                <a:r>
                  <a:rPr b="0" lang="en-GB" sz="85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/mo avg</a:t>
                </a:r>
                <a:endParaRPr b="1" sz="1020">
                  <a:solidFill>
                    <a:srgbClr val="4338C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2514600" y="114300"/>
                <a:ext cx="8097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9"/>
              <p:cNvSpPr txBox="1"/>
              <p:nvPr/>
            </p:nvSpPr>
            <p:spPr>
              <a:xfrm>
                <a:off x="2514600" y="171450"/>
                <a:ext cx="809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96% Match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262" name="Google Shape;262;p19"/>
            <p:cNvGrpSpPr/>
            <p:nvPr/>
          </p:nvGrpSpPr>
          <p:grpSpPr>
            <a:xfrm>
              <a:off x="190500" y="2000250"/>
              <a:ext cx="3476700" cy="1190700"/>
              <a:chOff x="0" y="0"/>
              <a:chExt cx="3476700" cy="1190700"/>
            </a:xfrm>
          </p:grpSpPr>
          <p:sp>
            <p:nvSpPr>
              <p:cNvPr id="263" name="Google Shape;263;p19"/>
              <p:cNvSpPr/>
              <p:nvPr/>
            </p:nvSpPr>
            <p:spPr>
              <a:xfrm>
                <a:off x="0" y="0"/>
                <a:ext cx="3476700" cy="1190700"/>
              </a:xfrm>
              <a:prstGeom prst="roundRect">
                <a:avLst>
                  <a:gd fmla="val 9600" name="adj"/>
                </a:avLst>
              </a:prstGeom>
              <a:solidFill>
                <a:srgbClr val="FCE7F3">
                  <a:alpha val="40000"/>
                </a:srgbClr>
              </a:solidFill>
              <a:ln cap="flat" cmpd="sng" w="9525">
                <a:solidFill>
                  <a:srgbClr val="FBCF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9"/>
              <p:cNvSpPr txBox="1"/>
              <p:nvPr/>
            </p:nvSpPr>
            <p:spPr>
              <a:xfrm>
                <a:off x="152400" y="114300"/>
                <a:ext cx="2190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Saheed Nagar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Central, Family Friendly, Markets Nearby</a:t>
                </a:r>
                <a:endParaRPr b="0" sz="85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GB" sz="1020">
                    <a:solidFill>
                      <a:srgbClr val="BE18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₹22,000</a:t>
                </a:r>
                <a:r>
                  <a:rPr b="0" lang="en-GB" sz="85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/mo avg</a:t>
                </a:r>
                <a:endParaRPr b="1" sz="1020">
                  <a:solidFill>
                    <a:srgbClr val="BE185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2514600" y="114300"/>
                <a:ext cx="8097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EC48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9"/>
              <p:cNvSpPr txBox="1"/>
              <p:nvPr/>
            </p:nvSpPr>
            <p:spPr>
              <a:xfrm>
                <a:off x="2514600" y="171450"/>
                <a:ext cx="809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88% Match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Feature Deep Dive - Smart Inventory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102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Track Every Box, Room by Room</a:t>
            </a:r>
            <a:endParaRPr b="0" sz="102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274" name="Google Shape;274;p20"/>
          <p:cNvGrpSpPr/>
          <p:nvPr/>
        </p:nvGrpSpPr>
        <p:grpSpPr>
          <a:xfrm>
            <a:off x="571500" y="1238250"/>
            <a:ext cx="3857700" cy="3429000"/>
            <a:chOff x="0" y="0"/>
            <a:chExt cx="3857700" cy="3429000"/>
          </a:xfrm>
        </p:grpSpPr>
        <p:sp>
          <p:nvSpPr>
            <p:cNvPr id="275" name="Google Shape;275;p20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Core Capability Overview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Manage move belongings with full visibility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77" name="Google Shape;277;p20"/>
            <p:cNvGrpSpPr/>
            <p:nvPr/>
          </p:nvGrpSpPr>
          <p:grpSpPr>
            <a:xfrm>
              <a:off x="190500" y="714375"/>
              <a:ext cx="3476700" cy="714300"/>
              <a:chOff x="0" y="0"/>
              <a:chExt cx="3476700" cy="714300"/>
            </a:xfrm>
          </p:grpSpPr>
          <p:sp>
            <p:nvSpPr>
              <p:cNvPr id="278" name="Google Shape;278;p20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0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0"/>
              <p:cNvSpPr txBox="1"/>
              <p:nvPr/>
            </p:nvSpPr>
            <p:spPr>
              <a:xfrm>
                <a:off x="152400" y="176848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inventory_2</a:t>
                </a:r>
                <a:endParaRPr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81" name="Google Shape;281;p20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Detailed Item Logging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Log items, weight, and insured value.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2" name="Google Shape;282;p20"/>
            <p:cNvGrpSpPr/>
            <p:nvPr/>
          </p:nvGrpSpPr>
          <p:grpSpPr>
            <a:xfrm>
              <a:off x="190500" y="1547813"/>
              <a:ext cx="3476700" cy="714300"/>
              <a:chOff x="0" y="0"/>
              <a:chExt cx="3476700" cy="714300"/>
            </a:xfrm>
          </p:grpSpPr>
          <p:sp>
            <p:nvSpPr>
              <p:cNvPr id="283" name="Google Shape;283;p20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0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0"/>
              <p:cNvSpPr txBox="1"/>
              <p:nvPr/>
            </p:nvSpPr>
            <p:spPr>
              <a:xfrm>
                <a:off x="152400" y="176848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warning</a:t>
                </a:r>
                <a:endParaRPr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86" name="Google Shape;286;p20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Fragile Handling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Flag fragile items for special handling.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7" name="Google Shape;287;p20"/>
            <p:cNvGrpSpPr/>
            <p:nvPr/>
          </p:nvGrpSpPr>
          <p:grpSpPr>
            <a:xfrm>
              <a:off x="190500" y="2381250"/>
              <a:ext cx="3476700" cy="714300"/>
              <a:chOff x="0" y="0"/>
              <a:chExt cx="3476700" cy="714300"/>
            </a:xfrm>
          </p:grpSpPr>
          <p:sp>
            <p:nvSpPr>
              <p:cNvPr id="288" name="Google Shape;288;p20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0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0"/>
              <p:cNvSpPr txBox="1"/>
              <p:nvPr/>
            </p:nvSpPr>
            <p:spPr>
              <a:xfrm>
                <a:off x="152400" y="176848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print</a:t>
                </a:r>
                <a:endParaRPr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91" name="Google Shape;291;p20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Packing &amp; Labels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Generate packing slips and print labels directly from the dashboard...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92" name="Google Shape;292;p20"/>
          <p:cNvGrpSpPr/>
          <p:nvPr/>
        </p:nvGrpSpPr>
        <p:grpSpPr>
          <a:xfrm>
            <a:off x="4714875" y="1238250"/>
            <a:ext cx="3857700" cy="3429000"/>
            <a:chOff x="0" y="0"/>
            <a:chExt cx="3857700" cy="3429000"/>
          </a:xfrm>
        </p:grpSpPr>
        <p:sp>
          <p:nvSpPr>
            <p:cNvPr id="293" name="Google Shape;293;p20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Room-by-Room Tracking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Real-time inventory breakdown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95" name="Google Shape;295;p20"/>
            <p:cNvGrpSpPr/>
            <p:nvPr/>
          </p:nvGrpSpPr>
          <p:grpSpPr>
            <a:xfrm>
              <a:off x="190500" y="714375"/>
              <a:ext cx="3476700" cy="714300"/>
              <a:chOff x="0" y="0"/>
              <a:chExt cx="3476700" cy="714300"/>
            </a:xfrm>
          </p:grpSpPr>
          <p:sp>
            <p:nvSpPr>
              <p:cNvPr id="296" name="Google Shape;296;p20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EEF2FF">
                  <a:alpha val="40000"/>
                </a:srgbClr>
              </a:solidFill>
              <a:ln cap="flat" cmpd="sng" w="9525">
                <a:solidFill>
                  <a:srgbClr val="C7D2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0"/>
              <p:cNvSpPr txBox="1"/>
              <p:nvPr/>
            </p:nvSpPr>
            <p:spPr>
              <a:xfrm>
                <a:off x="152400" y="114300"/>
                <a:ext cx="2190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Living Room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14 Items Logged • 2 Fragile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4338C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Insured Value: $12,400</a:t>
                </a:r>
                <a:endParaRPr b="1" sz="850">
                  <a:solidFill>
                    <a:srgbClr val="4338C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8" name="Google Shape;298;p20"/>
              <p:cNvSpPr/>
              <p:nvPr/>
            </p:nvSpPr>
            <p:spPr>
              <a:xfrm>
                <a:off x="2514600" y="223838"/>
                <a:ext cx="8097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0"/>
              <p:cNvSpPr txBox="1"/>
              <p:nvPr/>
            </p:nvSpPr>
            <p:spPr>
              <a:xfrm>
                <a:off x="2514600" y="223838"/>
                <a:ext cx="809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Boxed (5/5)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300" name="Google Shape;300;p20"/>
            <p:cNvGrpSpPr/>
            <p:nvPr/>
          </p:nvGrpSpPr>
          <p:grpSpPr>
            <a:xfrm>
              <a:off x="190500" y="1547813"/>
              <a:ext cx="3476700" cy="714300"/>
              <a:chOff x="0" y="0"/>
              <a:chExt cx="3476700" cy="714300"/>
            </a:xfrm>
          </p:grpSpPr>
          <p:sp>
            <p:nvSpPr>
              <p:cNvPr id="301" name="Google Shape;301;p20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CE7F3">
                  <a:alpha val="40000"/>
                </a:srgbClr>
              </a:solidFill>
              <a:ln cap="flat" cmpd="sng" w="9525">
                <a:solidFill>
                  <a:srgbClr val="FBCF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0"/>
              <p:cNvSpPr txBox="1"/>
              <p:nvPr/>
            </p:nvSpPr>
            <p:spPr>
              <a:xfrm>
                <a:off x="152400" y="114300"/>
                <a:ext cx="2190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Primary Kitchen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32 Items Logged • 12 Fragile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BE18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Insured Value: $4,800</a:t>
                </a:r>
                <a:endParaRPr b="1" sz="850">
                  <a:solidFill>
                    <a:srgbClr val="BE185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3" name="Google Shape;303;p20"/>
              <p:cNvSpPr/>
              <p:nvPr/>
            </p:nvSpPr>
            <p:spPr>
              <a:xfrm>
                <a:off x="2514600" y="223838"/>
                <a:ext cx="8097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EC48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0"/>
              <p:cNvSpPr txBox="1"/>
              <p:nvPr/>
            </p:nvSpPr>
            <p:spPr>
              <a:xfrm>
                <a:off x="2514600" y="223838"/>
                <a:ext cx="809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Packing (2/8)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305" name="Google Shape;305;p20"/>
            <p:cNvGrpSpPr/>
            <p:nvPr/>
          </p:nvGrpSpPr>
          <p:grpSpPr>
            <a:xfrm>
              <a:off x="190500" y="2381250"/>
              <a:ext cx="3476700" cy="714300"/>
              <a:chOff x="0" y="0"/>
              <a:chExt cx="3476700" cy="714300"/>
            </a:xfrm>
          </p:grpSpPr>
          <p:sp>
            <p:nvSpPr>
              <p:cNvPr id="306" name="Google Shape;306;p20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0"/>
              <p:cNvSpPr txBox="1"/>
              <p:nvPr/>
            </p:nvSpPr>
            <p:spPr>
              <a:xfrm>
                <a:off x="152400" y="114300"/>
                <a:ext cx="2190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Home Office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 Items Logged • 4 High Value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37415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Insured Value: $8,100</a:t>
                </a:r>
                <a:endParaRPr b="1" sz="850">
                  <a:solidFill>
                    <a:srgbClr val="37415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8" name="Google Shape;308;p20"/>
              <p:cNvSpPr/>
              <p:nvPr/>
            </p:nvSpPr>
            <p:spPr>
              <a:xfrm>
                <a:off x="2514600" y="223838"/>
                <a:ext cx="8097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9CA3A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20"/>
              <p:cNvSpPr txBox="1"/>
              <p:nvPr/>
            </p:nvSpPr>
            <p:spPr>
              <a:xfrm>
                <a:off x="2514600" y="223838"/>
                <a:ext cx="809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Pending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Feature Deep Dive - AI Agent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2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Your 24/7 Relocation Assistant</a:t>
            </a:r>
            <a:endParaRPr b="0" sz="102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317" name="Google Shape;317;p21"/>
          <p:cNvGrpSpPr/>
          <p:nvPr/>
        </p:nvGrpSpPr>
        <p:grpSpPr>
          <a:xfrm>
            <a:off x="571500" y="1238250"/>
            <a:ext cx="3857700" cy="3429000"/>
            <a:chOff x="0" y="0"/>
            <a:chExt cx="3857700" cy="3429000"/>
          </a:xfrm>
        </p:grpSpPr>
        <p:sp>
          <p:nvSpPr>
            <p:cNvPr id="318" name="Google Shape;318;p21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1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Core AI Capabilities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Intelligent assistance at every step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20" name="Google Shape;320;p21"/>
            <p:cNvGrpSpPr/>
            <p:nvPr/>
          </p:nvGrpSpPr>
          <p:grpSpPr>
            <a:xfrm>
              <a:off x="190500" y="714375"/>
              <a:ext cx="3476700" cy="714300"/>
              <a:chOff x="0" y="0"/>
              <a:chExt cx="3476700" cy="714300"/>
            </a:xfrm>
          </p:grpSpPr>
          <p:sp>
            <p:nvSpPr>
              <p:cNvPr id="321" name="Google Shape;321;p21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1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1"/>
              <p:cNvSpPr txBox="1"/>
              <p:nvPr/>
            </p:nvSpPr>
            <p:spPr>
              <a:xfrm>
                <a:off x="152400" y="20542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forum</a:t>
                </a:r>
                <a:endParaRPr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24" name="Google Shape;324;p21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Natural Language Chat Interface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Converse naturally with context-aware AI assistant.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25" name="Google Shape;325;p21"/>
            <p:cNvGrpSpPr/>
            <p:nvPr/>
          </p:nvGrpSpPr>
          <p:grpSpPr>
            <a:xfrm>
              <a:off x="190500" y="1547813"/>
              <a:ext cx="3476700" cy="714300"/>
              <a:chOff x="0" y="0"/>
              <a:chExt cx="3476700" cy="714300"/>
            </a:xfrm>
          </p:grpSpPr>
          <p:sp>
            <p:nvSpPr>
              <p:cNvPr id="326" name="Google Shape;326;p21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1"/>
              <p:cNvSpPr txBox="1"/>
              <p:nvPr/>
            </p:nvSpPr>
            <p:spPr>
              <a:xfrm>
                <a:off x="152400" y="20542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recommend</a:t>
                </a:r>
                <a:endParaRPr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29" name="Google Shape;329;p21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Instant Local Recommendations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Get instant recommendations for local food, healthcare, and transit.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30" name="Google Shape;330;p21"/>
            <p:cNvGrpSpPr/>
            <p:nvPr/>
          </p:nvGrpSpPr>
          <p:grpSpPr>
            <a:xfrm>
              <a:off x="190500" y="2381250"/>
              <a:ext cx="3476700" cy="714300"/>
              <a:chOff x="0" y="0"/>
              <a:chExt cx="3476700" cy="714300"/>
            </a:xfrm>
          </p:grpSpPr>
          <p:sp>
            <p:nvSpPr>
              <p:cNvPr id="331" name="Google Shape;331;p21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1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1"/>
              <p:cNvSpPr txBox="1"/>
              <p:nvPr/>
            </p:nvSpPr>
            <p:spPr>
              <a:xfrm>
                <a:off x="152400" y="20542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location_city</a:t>
                </a:r>
                <a:endParaRPr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34" name="Google Shape;334;p21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Destination-Based Advice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Personalized advice tailored specifically to your destination city.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335" name="Google Shape;335;p21"/>
          <p:cNvGrpSpPr/>
          <p:nvPr/>
        </p:nvGrpSpPr>
        <p:grpSpPr>
          <a:xfrm>
            <a:off x="4714875" y="1238250"/>
            <a:ext cx="3857700" cy="3429000"/>
            <a:chOff x="0" y="0"/>
            <a:chExt cx="3857700" cy="3429000"/>
          </a:xfrm>
        </p:grpSpPr>
        <p:sp>
          <p:nvSpPr>
            <p:cNvPr id="336" name="Google Shape;336;p21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1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Live Assistant Preview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Real-time smart responses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38" name="Google Shape;338;p21"/>
            <p:cNvGrpSpPr/>
            <p:nvPr/>
          </p:nvGrpSpPr>
          <p:grpSpPr>
            <a:xfrm>
              <a:off x="190500" y="714375"/>
              <a:ext cx="3476700" cy="2524200"/>
              <a:chOff x="0" y="0"/>
              <a:chExt cx="3476700" cy="2524200"/>
            </a:xfrm>
          </p:grpSpPr>
          <p:sp>
            <p:nvSpPr>
              <p:cNvPr id="339" name="Google Shape;339;p21"/>
              <p:cNvSpPr/>
              <p:nvPr/>
            </p:nvSpPr>
            <p:spPr>
              <a:xfrm>
                <a:off x="0" y="0"/>
                <a:ext cx="3476700" cy="2524200"/>
              </a:xfrm>
              <a:prstGeom prst="roundRect">
                <a:avLst>
                  <a:gd fmla="val 4528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0" name="Google Shape;340;p21"/>
              <p:cNvGrpSpPr/>
              <p:nvPr/>
            </p:nvGrpSpPr>
            <p:grpSpPr>
              <a:xfrm>
                <a:off x="152400" y="152400"/>
                <a:ext cx="2476500" cy="609750"/>
                <a:chOff x="0" y="0"/>
                <a:chExt cx="2476500" cy="609750"/>
              </a:xfrm>
            </p:grpSpPr>
            <p:sp>
              <p:nvSpPr>
                <p:cNvPr id="341" name="Google Shape;341;p21"/>
                <p:cNvSpPr txBox="1"/>
                <p:nvPr/>
              </p:nvSpPr>
              <p:spPr>
                <a:xfrm>
                  <a:off x="0" y="0"/>
                  <a:ext cx="19050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6366F1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Relocation Assistant AI</a:t>
                  </a:r>
                  <a:endParaRPr b="0" sz="800">
                    <a:solidFill>
                      <a:srgbClr val="6366F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342" name="Google Shape;342;p21"/>
                <p:cNvSpPr/>
                <p:nvPr/>
              </p:nvSpPr>
              <p:spPr>
                <a:xfrm>
                  <a:off x="0" y="209550"/>
                  <a:ext cx="2476500" cy="400200"/>
                </a:xfrm>
                <a:prstGeom prst="roundRect">
                  <a:avLst>
                    <a:gd fmla="val 2857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EF2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" name="Google Shape;343;p21"/>
                <p:cNvSpPr txBox="1"/>
                <p:nvPr/>
              </p:nvSpPr>
              <p:spPr>
                <a:xfrm>
                  <a:off x="114300" y="285750"/>
                  <a:ext cx="2247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50">
                      <a:solidFill>
                        <a:srgbClr val="1F2937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Hello Shriya! How can I help with your move to Bhubaneswar today?</a:t>
                  </a:r>
                  <a:endParaRPr b="0" sz="85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44" name="Google Shape;344;p21"/>
              <p:cNvGrpSpPr/>
              <p:nvPr/>
            </p:nvGrpSpPr>
            <p:grpSpPr>
              <a:xfrm>
                <a:off x="847725" y="876300"/>
                <a:ext cx="2476500" cy="400200"/>
                <a:chOff x="0" y="0"/>
                <a:chExt cx="2476500" cy="400200"/>
              </a:xfrm>
            </p:grpSpPr>
            <p:sp>
              <p:nvSpPr>
                <p:cNvPr id="345" name="Google Shape;345;p21"/>
                <p:cNvSpPr/>
                <p:nvPr/>
              </p:nvSpPr>
              <p:spPr>
                <a:xfrm>
                  <a:off x="0" y="0"/>
                  <a:ext cx="2476500" cy="400200"/>
                </a:xfrm>
                <a:prstGeom prst="roundRect">
                  <a:avLst>
                    <a:gd fmla="val 28571" name="adj"/>
                  </a:avLst>
                </a:prstGeom>
                <a:solidFill>
                  <a:srgbClr val="6366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" name="Google Shape;346;p21"/>
                <p:cNvSpPr txBox="1"/>
                <p:nvPr/>
              </p:nvSpPr>
              <p:spPr>
                <a:xfrm>
                  <a:off x="114300" y="76200"/>
                  <a:ext cx="2247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50">
                      <a:solidFill>
                        <a:srgbClr val="FFFFFF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Can you recommend top healthcare facilities near Patia?</a:t>
                  </a:r>
                  <a:endParaRPr b="0" sz="850">
                    <a:solidFill>
                      <a:srgbClr val="FFFFF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</p:grpSp>
          <p:grpSp>
            <p:nvGrpSpPr>
              <p:cNvPr id="347" name="Google Shape;347;p21"/>
              <p:cNvGrpSpPr/>
              <p:nvPr/>
            </p:nvGrpSpPr>
            <p:grpSpPr>
              <a:xfrm>
                <a:off x="152400" y="1447800"/>
                <a:ext cx="3171900" cy="857400"/>
                <a:chOff x="0" y="0"/>
                <a:chExt cx="3171900" cy="857400"/>
              </a:xfrm>
            </p:grpSpPr>
            <p:sp>
              <p:nvSpPr>
                <p:cNvPr id="348" name="Google Shape;348;p21"/>
                <p:cNvSpPr/>
                <p:nvPr/>
              </p:nvSpPr>
              <p:spPr>
                <a:xfrm>
                  <a:off x="0" y="0"/>
                  <a:ext cx="3171900" cy="857400"/>
                </a:xfrm>
                <a:prstGeom prst="roundRect">
                  <a:avLst>
                    <a:gd fmla="val 13333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C7D2F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" name="Google Shape;349;p21"/>
                <p:cNvSpPr txBox="1"/>
                <p:nvPr/>
              </p:nvSpPr>
              <p:spPr>
                <a:xfrm>
                  <a:off x="114300" y="95250"/>
                  <a:ext cx="2943300" cy="66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50">
                      <a:solidFill>
                        <a:srgbClr val="1F2937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Here are top rated hospitals in Patia:</a:t>
                  </a:r>
                  <a:endParaRPr b="0" sz="85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-GB" sz="850">
                      <a:solidFill>
                        <a:srgbClr val="4338CA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• KIMS Hospital </a:t>
                  </a:r>
                  <a:r>
                    <a:rPr b="0" lang="en-GB" sz="850">
                      <a:solidFill>
                        <a:srgbClr val="6B7280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(Super Specialty, 1.2 km)</a:t>
                  </a:r>
                  <a:endParaRPr b="0" sz="850">
                    <a:solidFill>
                      <a:srgbClr val="4338CA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-GB" sz="850">
                      <a:solidFill>
                        <a:srgbClr val="4338CA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• Apollo Clinic </a:t>
                  </a:r>
                  <a:r>
                    <a:rPr b="0" lang="en-GB" sz="850">
                      <a:solidFill>
                        <a:srgbClr val="6B7280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(Outpatient &amp; Diagnostics, 0.8 km)</a:t>
                  </a:r>
                  <a:endParaRPr b="0" sz="850">
                    <a:solidFill>
                      <a:srgbClr val="4338CA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Feature Deep Dive - Checklist &amp; Documents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102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Never Miss a Critical Step</a:t>
            </a:r>
            <a:endParaRPr b="0" sz="102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357" name="Google Shape;357;p22"/>
          <p:cNvGrpSpPr/>
          <p:nvPr/>
        </p:nvGrpSpPr>
        <p:grpSpPr>
          <a:xfrm>
            <a:off x="571500" y="1238250"/>
            <a:ext cx="3857700" cy="3429000"/>
            <a:chOff x="0" y="0"/>
            <a:chExt cx="3857700" cy="3429000"/>
          </a:xfrm>
        </p:grpSpPr>
        <p:sp>
          <p:nvSpPr>
            <p:cNvPr id="358" name="Google Shape;358;p22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Interactive Checklist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Timeline-based relocation tasks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60" name="Google Shape;360;p22"/>
            <p:cNvGrpSpPr/>
            <p:nvPr/>
          </p:nvGrpSpPr>
          <p:grpSpPr>
            <a:xfrm>
              <a:off x="190500" y="714375"/>
              <a:ext cx="3476700" cy="714300"/>
              <a:chOff x="0" y="0"/>
              <a:chExt cx="3476700" cy="714300"/>
            </a:xfrm>
          </p:grpSpPr>
          <p:sp>
            <p:nvSpPr>
              <p:cNvPr id="361" name="Google Shape;361;p22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EEF2FF">
                  <a:alpha val="40000"/>
                </a:srgbClr>
              </a:solidFill>
              <a:ln cap="flat" cmpd="sng" w="9525">
                <a:solidFill>
                  <a:srgbClr val="C7D2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2"/>
              <p:cNvSpPr txBox="1"/>
              <p:nvPr/>
            </p:nvSpPr>
            <p:spPr>
              <a:xfrm>
                <a:off x="152400" y="114300"/>
                <a:ext cx="2190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6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Day 1: Arrival &amp; Essentials</a:t>
                </a:r>
                <a:endParaRPr b="1" sz="86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08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Key pickup, utility check, initial setup</a:t>
                </a:r>
                <a:endParaRPr b="0" sz="708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786">
                    <a:solidFill>
                      <a:srgbClr val="4338C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 Urgent Tasks Highlighting</a:t>
                </a:r>
                <a:endParaRPr b="1" sz="786">
                  <a:solidFill>
                    <a:srgbClr val="4338C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3" name="Google Shape;363;p22"/>
              <p:cNvSpPr/>
              <p:nvPr/>
            </p:nvSpPr>
            <p:spPr>
              <a:xfrm>
                <a:off x="2514600" y="223838"/>
                <a:ext cx="8097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2"/>
              <p:cNvSpPr txBox="1"/>
              <p:nvPr/>
            </p:nvSpPr>
            <p:spPr>
              <a:xfrm>
                <a:off x="2514600" y="223838"/>
                <a:ext cx="809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Active (3/5)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365" name="Google Shape;365;p22"/>
            <p:cNvGrpSpPr/>
            <p:nvPr/>
          </p:nvGrpSpPr>
          <p:grpSpPr>
            <a:xfrm>
              <a:off x="190500" y="1547813"/>
              <a:ext cx="3476700" cy="714300"/>
              <a:chOff x="0" y="0"/>
              <a:chExt cx="3476700" cy="714300"/>
            </a:xfrm>
          </p:grpSpPr>
          <p:sp>
            <p:nvSpPr>
              <p:cNvPr id="366" name="Google Shape;366;p22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CE7F3">
                  <a:alpha val="40000"/>
                </a:srgbClr>
              </a:solidFill>
              <a:ln cap="flat" cmpd="sng" w="9525">
                <a:solidFill>
                  <a:srgbClr val="FBCF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2"/>
              <p:cNvSpPr txBox="1"/>
              <p:nvPr/>
            </p:nvSpPr>
            <p:spPr>
              <a:xfrm>
                <a:off x="152400" y="114300"/>
                <a:ext cx="2190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6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Week 1: Local Registration</a:t>
                </a:r>
                <a:endParaRPr b="1" sz="86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08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Address update, internet setup, school admin</a:t>
                </a:r>
                <a:endParaRPr b="0" sz="708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786">
                    <a:solidFill>
                      <a:srgbClr val="BE18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Critical: Police Verification</a:t>
                </a:r>
                <a:endParaRPr b="1" sz="786">
                  <a:solidFill>
                    <a:srgbClr val="BE185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8" name="Google Shape;368;p22"/>
              <p:cNvSpPr/>
              <p:nvPr/>
            </p:nvSpPr>
            <p:spPr>
              <a:xfrm>
                <a:off x="2514600" y="223838"/>
                <a:ext cx="8097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EC48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2"/>
              <p:cNvSpPr txBox="1"/>
              <p:nvPr/>
            </p:nvSpPr>
            <p:spPr>
              <a:xfrm>
                <a:off x="2514600" y="223838"/>
                <a:ext cx="809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Pending (1/6)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370" name="Google Shape;370;p22"/>
            <p:cNvGrpSpPr/>
            <p:nvPr/>
          </p:nvGrpSpPr>
          <p:grpSpPr>
            <a:xfrm>
              <a:off x="190500" y="2381250"/>
              <a:ext cx="3476700" cy="714300"/>
              <a:chOff x="0" y="0"/>
              <a:chExt cx="3476700" cy="714300"/>
            </a:xfrm>
          </p:grpSpPr>
          <p:sp>
            <p:nvSpPr>
              <p:cNvPr id="371" name="Google Shape;371;p22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2"/>
              <p:cNvSpPr txBox="1"/>
              <p:nvPr/>
            </p:nvSpPr>
            <p:spPr>
              <a:xfrm>
                <a:off x="152400" y="114300"/>
                <a:ext cx="2190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6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Month 1: Settling In</a:t>
                </a:r>
                <a:endParaRPr b="1" sz="86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08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Healthcare registration, local orientation</a:t>
                </a:r>
                <a:endParaRPr b="0" sz="708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786">
                    <a:solidFill>
                      <a:srgbClr val="37415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Routine Onboarding</a:t>
                </a:r>
                <a:endParaRPr b="1" sz="786">
                  <a:solidFill>
                    <a:srgbClr val="37415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3" name="Google Shape;373;p22"/>
              <p:cNvSpPr/>
              <p:nvPr/>
            </p:nvSpPr>
            <p:spPr>
              <a:xfrm>
                <a:off x="2514600" y="223838"/>
                <a:ext cx="8097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9CA3A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2"/>
              <p:cNvSpPr txBox="1"/>
              <p:nvPr/>
            </p:nvSpPr>
            <p:spPr>
              <a:xfrm>
                <a:off x="2514600" y="223838"/>
                <a:ext cx="809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Upcoming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</p:grpSp>
      <p:grpSp>
        <p:nvGrpSpPr>
          <p:cNvPr id="375" name="Google Shape;375;p22"/>
          <p:cNvGrpSpPr/>
          <p:nvPr/>
        </p:nvGrpSpPr>
        <p:grpSpPr>
          <a:xfrm>
            <a:off x="4714875" y="1238250"/>
            <a:ext cx="3857700" cy="3429000"/>
            <a:chOff x="0" y="0"/>
            <a:chExt cx="3857700" cy="3429000"/>
          </a:xfrm>
        </p:grpSpPr>
        <p:sp>
          <p:nvSpPr>
            <p:cNvPr id="376" name="Google Shape;376;p22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Document Tracker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Centralized vault for essential records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78" name="Google Shape;378;p22"/>
            <p:cNvGrpSpPr/>
            <p:nvPr/>
          </p:nvGrpSpPr>
          <p:grpSpPr>
            <a:xfrm>
              <a:off x="190500" y="714375"/>
              <a:ext cx="3476700" cy="714300"/>
              <a:chOff x="0" y="0"/>
              <a:chExt cx="3476700" cy="714300"/>
            </a:xfrm>
          </p:grpSpPr>
          <p:sp>
            <p:nvSpPr>
              <p:cNvPr id="379" name="Google Shape;379;p22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2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2"/>
              <p:cNvSpPr txBox="1"/>
              <p:nvPr/>
            </p:nvSpPr>
            <p:spPr>
              <a:xfrm>
                <a:off x="152400" y="176848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badge</a:t>
                </a:r>
                <a:endParaRPr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82" name="Google Shape;382;p22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6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IDs &amp; Personal Documents</a:t>
                </a:r>
                <a:endParaRPr b="1" sz="86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08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Passports, Aadhaar, PAN, &amp; Driver's Licenses</a:t>
                </a:r>
                <a:endParaRPr b="0" sz="708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83" name="Google Shape;383;p22"/>
            <p:cNvGrpSpPr/>
            <p:nvPr/>
          </p:nvGrpSpPr>
          <p:grpSpPr>
            <a:xfrm>
              <a:off x="190500" y="1547813"/>
              <a:ext cx="3476700" cy="714300"/>
              <a:chOff x="0" y="0"/>
              <a:chExt cx="3476700" cy="714300"/>
            </a:xfrm>
          </p:grpSpPr>
          <p:sp>
            <p:nvSpPr>
              <p:cNvPr id="384" name="Google Shape;384;p22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2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2"/>
              <p:cNvSpPr txBox="1"/>
              <p:nvPr/>
            </p:nvSpPr>
            <p:spPr>
              <a:xfrm>
                <a:off x="152400" y="176848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description</a:t>
                </a:r>
                <a:endParaRPr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87" name="Google Shape;387;p22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6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Housing &amp; Lease Agreements</a:t>
                </a:r>
                <a:endParaRPr b="1" sz="86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08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Rental agreements, utility bills, &amp; receipts</a:t>
                </a:r>
                <a:endParaRPr b="0" sz="708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88" name="Google Shape;388;p22"/>
            <p:cNvGrpSpPr/>
            <p:nvPr/>
          </p:nvGrpSpPr>
          <p:grpSpPr>
            <a:xfrm>
              <a:off x="190500" y="2381250"/>
              <a:ext cx="3476700" cy="714300"/>
              <a:chOff x="0" y="0"/>
              <a:chExt cx="3476700" cy="714300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2"/>
              <p:cNvSpPr txBox="1"/>
              <p:nvPr/>
            </p:nvSpPr>
            <p:spPr>
              <a:xfrm>
                <a:off x="152400" y="176848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medical_services</a:t>
                </a:r>
                <a:endParaRPr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92" name="Google Shape;392;p22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6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Medical &amp; Family Records</a:t>
                </a:r>
                <a:endParaRPr b="1" sz="86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08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Vaccination records, health insurance, &amp; prescriptions</a:t>
                </a:r>
                <a:endParaRPr b="0" sz="708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Feature Deep Dive - Cost &amp; Budget Planner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2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Financial Clarity for Your Move</a:t>
            </a:r>
            <a:endParaRPr b="0" sz="102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400" name="Google Shape;400;p23"/>
          <p:cNvGrpSpPr/>
          <p:nvPr/>
        </p:nvGrpSpPr>
        <p:grpSpPr>
          <a:xfrm>
            <a:off x="571500" y="1238250"/>
            <a:ext cx="3857700" cy="3429000"/>
            <a:chOff x="0" y="0"/>
            <a:chExt cx="3857700" cy="3429000"/>
          </a:xfrm>
        </p:grpSpPr>
        <p:sp>
          <p:nvSpPr>
            <p:cNvPr id="401" name="Google Shape;401;p23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3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Budget &amp; Living Breakdown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Estimate expenses and manage allocations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03" name="Google Shape;403;p23"/>
            <p:cNvGrpSpPr/>
            <p:nvPr/>
          </p:nvGrpSpPr>
          <p:grpSpPr>
            <a:xfrm>
              <a:off x="190500" y="714375"/>
              <a:ext cx="3476700" cy="714300"/>
              <a:chOff x="0" y="0"/>
              <a:chExt cx="3476700" cy="714300"/>
            </a:xfrm>
          </p:grpSpPr>
          <p:sp>
            <p:nvSpPr>
              <p:cNvPr id="404" name="Google Shape;404;p23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3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3"/>
              <p:cNvSpPr txBox="1"/>
              <p:nvPr/>
            </p:nvSpPr>
            <p:spPr>
              <a:xfrm>
                <a:off x="152400" y="20542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pie_chart</a:t>
                </a:r>
                <a:endParaRPr b="0"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07" name="Google Shape;407;p23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Cost of Living Breakdown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Comprehensive insights on Rent, Groceries, &amp; Transport.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8" name="Google Shape;408;p23"/>
            <p:cNvGrpSpPr/>
            <p:nvPr/>
          </p:nvGrpSpPr>
          <p:grpSpPr>
            <a:xfrm>
              <a:off x="190500" y="1547813"/>
              <a:ext cx="3476700" cy="714300"/>
              <a:chOff x="0" y="0"/>
              <a:chExt cx="3476700" cy="714300"/>
            </a:xfrm>
          </p:grpSpPr>
          <p:sp>
            <p:nvSpPr>
              <p:cNvPr id="409" name="Google Shape;409;p23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3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3"/>
              <p:cNvSpPr txBox="1"/>
              <p:nvPr/>
            </p:nvSpPr>
            <p:spPr>
              <a:xfrm>
                <a:off x="152400" y="20542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20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tune</a:t>
                </a:r>
                <a:endParaRPr b="0"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2" name="Google Shape;412;p23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Monthly Budget Estimator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Dynamic estimator with adjustable housing sliders.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3" name="Google Shape;413;p23"/>
            <p:cNvGrpSpPr/>
            <p:nvPr/>
          </p:nvGrpSpPr>
          <p:grpSpPr>
            <a:xfrm>
              <a:off x="190500" y="2381250"/>
              <a:ext cx="3476700" cy="714300"/>
              <a:chOff x="0" y="0"/>
              <a:chExt cx="3476700" cy="714300"/>
            </a:xfrm>
          </p:grpSpPr>
          <p:sp>
            <p:nvSpPr>
              <p:cNvPr id="414" name="Google Shape;414;p23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3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3"/>
              <p:cNvSpPr txBox="1"/>
              <p:nvPr/>
            </p:nvSpPr>
            <p:spPr>
              <a:xfrm>
                <a:off x="152400" y="20542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local_shipping</a:t>
                </a:r>
                <a:endParaRPr b="0"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7" name="Google Shape;417;p23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Moving Logistics Calculator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Calculate costs based on Distance, Home Size, &amp; Services.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18" name="Google Shape;418;p23"/>
          <p:cNvGrpSpPr/>
          <p:nvPr/>
        </p:nvGrpSpPr>
        <p:grpSpPr>
          <a:xfrm>
            <a:off x="4714875" y="1238250"/>
            <a:ext cx="3857700" cy="3429000"/>
            <a:chOff x="0" y="0"/>
            <a:chExt cx="3857700" cy="3429000"/>
          </a:xfrm>
        </p:grpSpPr>
        <p:sp>
          <p:nvSpPr>
            <p:cNvPr id="419" name="Google Shape;419;p23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3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Estimated Monthly Budget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Interactive allocation breakdown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21" name="Google Shape;421;p23"/>
            <p:cNvGrpSpPr/>
            <p:nvPr/>
          </p:nvGrpSpPr>
          <p:grpSpPr>
            <a:xfrm>
              <a:off x="190500" y="714375"/>
              <a:ext cx="3476700" cy="1190700"/>
              <a:chOff x="0" y="0"/>
              <a:chExt cx="3476700" cy="1190700"/>
            </a:xfrm>
          </p:grpSpPr>
          <p:sp>
            <p:nvSpPr>
              <p:cNvPr id="422" name="Google Shape;422;p23"/>
              <p:cNvSpPr/>
              <p:nvPr/>
            </p:nvSpPr>
            <p:spPr>
              <a:xfrm>
                <a:off x="0" y="0"/>
                <a:ext cx="3476700" cy="1190700"/>
              </a:xfrm>
              <a:prstGeom prst="roundRect">
                <a:avLst>
                  <a:gd fmla="val 9600" name="adj"/>
                </a:avLst>
              </a:prstGeom>
              <a:solidFill>
                <a:srgbClr val="EEF2FF">
                  <a:alpha val="40000"/>
                </a:srgbClr>
              </a:solidFill>
              <a:ln cap="flat" cmpd="sng" w="9525">
                <a:solidFill>
                  <a:srgbClr val="C7D2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3"/>
              <p:cNvSpPr txBox="1"/>
              <p:nvPr/>
            </p:nvSpPr>
            <p:spPr>
              <a:xfrm>
                <a:off x="152400" y="114300"/>
                <a:ext cx="2190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Housing Allocation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Rent &amp; Utilities Segment</a:t>
                </a:r>
                <a:endParaRPr b="0" sz="85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GB" sz="1020">
                    <a:solidFill>
                      <a:srgbClr val="4338C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₹35,000</a:t>
                </a:r>
                <a:r>
                  <a:rPr b="0" lang="en-GB" sz="85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/mo est</a:t>
                </a:r>
                <a:endParaRPr b="1" sz="1020">
                  <a:solidFill>
                    <a:srgbClr val="4338C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24" name="Google Shape;424;p23"/>
              <p:cNvSpPr/>
              <p:nvPr/>
            </p:nvSpPr>
            <p:spPr>
              <a:xfrm>
                <a:off x="2514600" y="114300"/>
                <a:ext cx="8097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3"/>
              <p:cNvSpPr txBox="1"/>
              <p:nvPr/>
            </p:nvSpPr>
            <p:spPr>
              <a:xfrm>
                <a:off x="2514600" y="171450"/>
                <a:ext cx="809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50% Budget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grpSp>
            <p:nvGrpSpPr>
              <p:cNvPr id="426" name="Google Shape;426;p23"/>
              <p:cNvGrpSpPr/>
              <p:nvPr/>
            </p:nvGrpSpPr>
            <p:grpSpPr>
              <a:xfrm>
                <a:off x="152400" y="819150"/>
                <a:ext cx="3171900" cy="133500"/>
                <a:chOff x="0" y="-38100"/>
                <a:chExt cx="3171900" cy="133500"/>
              </a:xfrm>
            </p:grpSpPr>
            <p:sp>
              <p:nvSpPr>
                <p:cNvPr id="427" name="Google Shape;427;p23"/>
                <p:cNvSpPr/>
                <p:nvPr/>
              </p:nvSpPr>
              <p:spPr>
                <a:xfrm>
                  <a:off x="0" y="0"/>
                  <a:ext cx="3171900" cy="573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C7D2F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23"/>
                <p:cNvSpPr/>
                <p:nvPr/>
              </p:nvSpPr>
              <p:spPr>
                <a:xfrm>
                  <a:off x="0" y="0"/>
                  <a:ext cx="1581300" cy="573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6366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" name="Google Shape;429;p23"/>
                <p:cNvSpPr/>
                <p:nvPr/>
              </p:nvSpPr>
              <p:spPr>
                <a:xfrm>
                  <a:off x="1514475" y="-38100"/>
                  <a:ext cx="133500" cy="133500"/>
                </a:xfrm>
                <a:prstGeom prst="ellipse">
                  <a:avLst/>
                </a:prstGeom>
                <a:solidFill>
                  <a:srgbClr val="4338C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0" name="Google Shape;430;p23"/>
            <p:cNvGrpSpPr/>
            <p:nvPr/>
          </p:nvGrpSpPr>
          <p:grpSpPr>
            <a:xfrm>
              <a:off x="190500" y="2000250"/>
              <a:ext cx="3476700" cy="1190700"/>
              <a:chOff x="0" y="0"/>
              <a:chExt cx="3476700" cy="1190700"/>
            </a:xfrm>
          </p:grpSpPr>
          <p:sp>
            <p:nvSpPr>
              <p:cNvPr id="431" name="Google Shape;431;p23"/>
              <p:cNvSpPr/>
              <p:nvPr/>
            </p:nvSpPr>
            <p:spPr>
              <a:xfrm>
                <a:off x="0" y="0"/>
                <a:ext cx="3476700" cy="1190700"/>
              </a:xfrm>
              <a:prstGeom prst="roundRect">
                <a:avLst>
                  <a:gd fmla="val 9600" name="adj"/>
                </a:avLst>
              </a:prstGeom>
              <a:solidFill>
                <a:srgbClr val="FCE7F3">
                  <a:alpha val="40000"/>
                </a:srgbClr>
              </a:solidFill>
              <a:ln cap="flat" cmpd="sng" w="9525">
                <a:solidFill>
                  <a:srgbClr val="FBCF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3"/>
              <p:cNvSpPr txBox="1"/>
              <p:nvPr/>
            </p:nvSpPr>
            <p:spPr>
              <a:xfrm>
                <a:off x="152400" y="114300"/>
                <a:ext cx="2190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Living &amp; Logistics</a:t>
                </a:r>
                <a:endParaRPr b="1" sz="11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Groceries, Transit &amp; Moving</a:t>
                </a:r>
                <a:endParaRPr b="0" sz="85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GB" sz="1020">
                    <a:solidFill>
                      <a:srgbClr val="BE18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₹20,000</a:t>
                </a:r>
                <a:r>
                  <a:rPr b="0" lang="en-GB" sz="850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/mo est</a:t>
                </a:r>
                <a:endParaRPr b="1" sz="1020">
                  <a:solidFill>
                    <a:srgbClr val="BE185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33" name="Google Shape;433;p23"/>
              <p:cNvSpPr/>
              <p:nvPr/>
            </p:nvSpPr>
            <p:spPr>
              <a:xfrm>
                <a:off x="2514600" y="114300"/>
                <a:ext cx="8097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EC48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3"/>
              <p:cNvSpPr txBox="1"/>
              <p:nvPr/>
            </p:nvSpPr>
            <p:spPr>
              <a:xfrm>
                <a:off x="2514600" y="171450"/>
                <a:ext cx="809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30% Budget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grpSp>
            <p:nvGrpSpPr>
              <p:cNvPr id="435" name="Google Shape;435;p23"/>
              <p:cNvGrpSpPr/>
              <p:nvPr/>
            </p:nvGrpSpPr>
            <p:grpSpPr>
              <a:xfrm>
                <a:off x="152400" y="819150"/>
                <a:ext cx="3171900" cy="133500"/>
                <a:chOff x="0" y="-38100"/>
                <a:chExt cx="3171900" cy="133500"/>
              </a:xfrm>
            </p:grpSpPr>
            <p:sp>
              <p:nvSpPr>
                <p:cNvPr id="436" name="Google Shape;436;p23"/>
                <p:cNvSpPr/>
                <p:nvPr/>
              </p:nvSpPr>
              <p:spPr>
                <a:xfrm>
                  <a:off x="0" y="0"/>
                  <a:ext cx="3171900" cy="573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BCFE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23"/>
                <p:cNvSpPr/>
                <p:nvPr/>
              </p:nvSpPr>
              <p:spPr>
                <a:xfrm>
                  <a:off x="0" y="0"/>
                  <a:ext cx="952500" cy="573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EC489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23"/>
                <p:cNvSpPr/>
                <p:nvPr/>
              </p:nvSpPr>
              <p:spPr>
                <a:xfrm>
                  <a:off x="885825" y="-38100"/>
                  <a:ext cx="133500" cy="133500"/>
                </a:xfrm>
                <a:prstGeom prst="ellipse">
                  <a:avLst/>
                </a:prstGeom>
                <a:solidFill>
                  <a:srgbClr val="BE185D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4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Feature Deep Dive - Aviation Telemetry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2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Real-Time Logistics Tracking</a:t>
            </a:r>
            <a:endParaRPr b="0" sz="102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446" name="Google Shape;446;p24"/>
          <p:cNvGrpSpPr/>
          <p:nvPr/>
        </p:nvGrpSpPr>
        <p:grpSpPr>
          <a:xfrm>
            <a:off x="571500" y="1238250"/>
            <a:ext cx="3857700" cy="3429000"/>
            <a:chOff x="0" y="0"/>
            <a:chExt cx="3857700" cy="3429000"/>
          </a:xfrm>
        </p:grpSpPr>
        <p:sp>
          <p:nvSpPr>
            <p:cNvPr id="447" name="Google Shape;447;p24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4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Core Telemetry Capabilities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Advanced tracking and analytics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49" name="Google Shape;449;p24"/>
            <p:cNvGrpSpPr/>
            <p:nvPr/>
          </p:nvGrpSpPr>
          <p:grpSpPr>
            <a:xfrm>
              <a:off x="190500" y="714375"/>
              <a:ext cx="3476700" cy="714300"/>
              <a:chOff x="0" y="0"/>
              <a:chExt cx="3476700" cy="714300"/>
            </a:xfrm>
          </p:grpSpPr>
          <p:sp>
            <p:nvSpPr>
              <p:cNvPr id="450" name="Google Shape;450;p24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4"/>
              <p:cNvSpPr txBox="1"/>
              <p:nvPr/>
            </p:nvSpPr>
            <p:spPr>
              <a:xfrm>
                <a:off x="152400" y="20542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flight_takeoff</a:t>
                </a:r>
                <a:endParaRPr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53" name="Google Shape;453;p24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Live Route Tracking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Real-time monitoring of flights (e.g., Bhubaneswar to Boston).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4" name="Google Shape;454;p24"/>
            <p:cNvGrpSpPr/>
            <p:nvPr/>
          </p:nvGrpSpPr>
          <p:grpSpPr>
            <a:xfrm>
              <a:off x="190500" y="1547813"/>
              <a:ext cx="3476700" cy="714300"/>
              <a:chOff x="0" y="0"/>
              <a:chExt cx="3476700" cy="714300"/>
            </a:xfrm>
          </p:grpSpPr>
          <p:sp>
            <p:nvSpPr>
              <p:cNvPr id="455" name="Google Shape;455;p24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4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4"/>
              <p:cNvSpPr txBox="1"/>
              <p:nvPr/>
            </p:nvSpPr>
            <p:spPr>
              <a:xfrm>
                <a:off x="152400" y="20542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analytics</a:t>
                </a:r>
                <a:endParaRPr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58" name="Google Shape;458;p24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Predictive Metrics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Delay risk prediction and on-time performance analysis.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9" name="Google Shape;459;p24"/>
            <p:cNvGrpSpPr/>
            <p:nvPr/>
          </p:nvGrpSpPr>
          <p:grpSpPr>
            <a:xfrm>
              <a:off x="190500" y="2381250"/>
              <a:ext cx="3476700" cy="714300"/>
              <a:chOff x="0" y="0"/>
              <a:chExt cx="3476700" cy="714300"/>
            </a:xfrm>
          </p:grpSpPr>
          <p:sp>
            <p:nvSpPr>
              <p:cNvPr id="460" name="Google Shape;460;p24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4"/>
              <p:cNvSpPr txBox="1"/>
              <p:nvPr/>
            </p:nvSpPr>
            <p:spPr>
              <a:xfrm>
                <a:off x="152400" y="20542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map</a:t>
                </a:r>
                <a:endParaRPr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63" name="Google Shape;463;p24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Logistical Data Integration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GIS coordinates and fuel efficiency data for planning.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64" name="Google Shape;464;p24"/>
          <p:cNvGrpSpPr/>
          <p:nvPr/>
        </p:nvGrpSpPr>
        <p:grpSpPr>
          <a:xfrm>
            <a:off x="4714875" y="1238250"/>
            <a:ext cx="3857700" cy="3429000"/>
            <a:chOff x="0" y="0"/>
            <a:chExt cx="3857700" cy="3429000"/>
          </a:xfrm>
        </p:grpSpPr>
        <p:sp>
          <p:nvSpPr>
            <p:cNvPr id="465" name="Google Shape;465;p24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4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Active Flight Status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Live telemetry route overview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67" name="Google Shape;467;p24"/>
            <p:cNvGrpSpPr/>
            <p:nvPr/>
          </p:nvGrpSpPr>
          <p:grpSpPr>
            <a:xfrm>
              <a:off x="190500" y="714375"/>
              <a:ext cx="3476700" cy="714300"/>
              <a:chOff x="0" y="0"/>
              <a:chExt cx="3476700" cy="714300"/>
            </a:xfrm>
          </p:grpSpPr>
          <p:sp>
            <p:nvSpPr>
              <p:cNvPr id="468" name="Google Shape;468;p24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EEF2FF">
                  <a:alpha val="40000"/>
                </a:srgbClr>
              </a:solidFill>
              <a:ln cap="flat" cmpd="sng" w="9525">
                <a:solidFill>
                  <a:srgbClr val="C7D2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4"/>
              <p:cNvSpPr txBox="1"/>
              <p:nvPr/>
            </p:nvSpPr>
            <p:spPr>
              <a:xfrm>
                <a:off x="152400" y="114300"/>
                <a:ext cx="2190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BBI → BOS (Flight AI-204)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 Transit • On Schedule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4338C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Est. Fuel Efficiency: 94%</a:t>
                </a:r>
                <a:endParaRPr b="1" sz="850">
                  <a:solidFill>
                    <a:srgbClr val="4338C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0" name="Google Shape;470;p24"/>
              <p:cNvSpPr/>
              <p:nvPr/>
            </p:nvSpPr>
            <p:spPr>
              <a:xfrm>
                <a:off x="2514600" y="223838"/>
                <a:ext cx="8097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4"/>
              <p:cNvSpPr txBox="1"/>
              <p:nvPr/>
            </p:nvSpPr>
            <p:spPr>
              <a:xfrm>
                <a:off x="2514600" y="223838"/>
                <a:ext cx="809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En Route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472" name="Google Shape;472;p24"/>
            <p:cNvGrpSpPr/>
            <p:nvPr/>
          </p:nvGrpSpPr>
          <p:grpSpPr>
            <a:xfrm>
              <a:off x="190500" y="1547813"/>
              <a:ext cx="3476700" cy="714300"/>
              <a:chOff x="0" y="0"/>
              <a:chExt cx="3476700" cy="714300"/>
            </a:xfrm>
          </p:grpSpPr>
          <p:sp>
            <p:nvSpPr>
              <p:cNvPr id="473" name="Google Shape;473;p24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CE7F3">
                  <a:alpha val="40000"/>
                </a:srgbClr>
              </a:solidFill>
              <a:ln cap="flat" cmpd="sng" w="9525">
                <a:solidFill>
                  <a:srgbClr val="FBCF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4"/>
              <p:cNvSpPr txBox="1"/>
              <p:nvPr/>
            </p:nvSpPr>
            <p:spPr>
              <a:xfrm>
                <a:off x="152400" y="114300"/>
                <a:ext cx="2190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Route Risk Assessment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Weather disruption near Atlantic corridor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BE185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Low Delay Risk: +12m</a:t>
                </a:r>
                <a:endParaRPr b="1" sz="850">
                  <a:solidFill>
                    <a:srgbClr val="BE185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5" name="Google Shape;475;p24"/>
              <p:cNvSpPr/>
              <p:nvPr/>
            </p:nvSpPr>
            <p:spPr>
              <a:xfrm>
                <a:off x="2514600" y="223838"/>
                <a:ext cx="8097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EC48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4"/>
              <p:cNvSpPr txBox="1"/>
              <p:nvPr/>
            </p:nvSpPr>
            <p:spPr>
              <a:xfrm>
                <a:off x="2514600" y="223838"/>
                <a:ext cx="809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Monitored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477" name="Google Shape;477;p24"/>
            <p:cNvGrpSpPr/>
            <p:nvPr/>
          </p:nvGrpSpPr>
          <p:grpSpPr>
            <a:xfrm>
              <a:off x="190500" y="2381250"/>
              <a:ext cx="3476700" cy="714300"/>
              <a:chOff x="0" y="0"/>
              <a:chExt cx="3476700" cy="714300"/>
            </a:xfrm>
          </p:grpSpPr>
          <p:sp>
            <p:nvSpPr>
              <p:cNvPr id="478" name="Google Shape;478;p24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4"/>
              <p:cNvSpPr txBox="1"/>
              <p:nvPr/>
            </p:nvSpPr>
            <p:spPr>
              <a:xfrm>
                <a:off x="152400" y="114300"/>
                <a:ext cx="2190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GIS Telemetry Logs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Lat: 20.2961° N, Lon: 85.8245° E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37415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Coordinates Syncing...</a:t>
                </a:r>
                <a:endParaRPr b="1" sz="850">
                  <a:solidFill>
                    <a:srgbClr val="37415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0" name="Google Shape;480;p24"/>
              <p:cNvSpPr/>
              <p:nvPr/>
            </p:nvSpPr>
            <p:spPr>
              <a:xfrm>
                <a:off x="2514600" y="223838"/>
                <a:ext cx="8097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9CA3A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4"/>
              <p:cNvSpPr txBox="1"/>
              <p:nvPr/>
            </p:nvSpPr>
            <p:spPr>
              <a:xfrm>
                <a:off x="2514600" y="223838"/>
                <a:ext cx="809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0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Live Data</a:t>
                </a:r>
                <a:endParaRPr b="0" sz="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5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Technology Stack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2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Under the Hood</a:t>
            </a:r>
            <a:endParaRPr b="0" sz="102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489" name="Google Shape;489;p25"/>
          <p:cNvGrpSpPr/>
          <p:nvPr/>
        </p:nvGrpSpPr>
        <p:grpSpPr>
          <a:xfrm>
            <a:off x="571500" y="1238250"/>
            <a:ext cx="3857700" cy="3429000"/>
            <a:chOff x="0" y="0"/>
            <a:chExt cx="3857700" cy="3429000"/>
          </a:xfrm>
        </p:grpSpPr>
        <p:sp>
          <p:nvSpPr>
            <p:cNvPr id="490" name="Google Shape;490;p25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5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Architecture Components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Core technology building blocks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92" name="Google Shape;492;p25"/>
            <p:cNvGrpSpPr/>
            <p:nvPr/>
          </p:nvGrpSpPr>
          <p:grpSpPr>
            <a:xfrm>
              <a:off x="190500" y="647700"/>
              <a:ext cx="3476700" cy="619200"/>
              <a:chOff x="0" y="0"/>
              <a:chExt cx="3476700" cy="619200"/>
            </a:xfrm>
          </p:grpSpPr>
          <p:sp>
            <p:nvSpPr>
              <p:cNvPr id="493" name="Google Shape;493;p25"/>
              <p:cNvSpPr/>
              <p:nvPr/>
            </p:nvSpPr>
            <p:spPr>
              <a:xfrm>
                <a:off x="0" y="0"/>
                <a:ext cx="3476700" cy="619200"/>
              </a:xfrm>
              <a:prstGeom prst="roundRect">
                <a:avLst>
                  <a:gd fmla="val 1846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114300" y="100013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5"/>
              <p:cNvSpPr txBox="1"/>
              <p:nvPr/>
            </p:nvSpPr>
            <p:spPr>
              <a:xfrm>
                <a:off x="114300" y="1863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desktop_windows</a:t>
                </a:r>
                <a:endParaRPr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96" name="Google Shape;496;p25"/>
              <p:cNvSpPr txBox="1"/>
              <p:nvPr/>
            </p:nvSpPr>
            <p:spPr>
              <a:xfrm>
                <a:off x="609600" y="114300"/>
                <a:ext cx="27147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Frontend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React / Next.js, Tailwind CSS (for clean UI)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97" name="Google Shape;497;p25"/>
            <p:cNvGrpSpPr/>
            <p:nvPr/>
          </p:nvGrpSpPr>
          <p:grpSpPr>
            <a:xfrm>
              <a:off x="190500" y="1343025"/>
              <a:ext cx="3476700" cy="619200"/>
              <a:chOff x="0" y="0"/>
              <a:chExt cx="3476700" cy="619200"/>
            </a:xfrm>
          </p:grpSpPr>
          <p:sp>
            <p:nvSpPr>
              <p:cNvPr id="498" name="Google Shape;498;p25"/>
              <p:cNvSpPr/>
              <p:nvPr/>
            </p:nvSpPr>
            <p:spPr>
              <a:xfrm>
                <a:off x="0" y="0"/>
                <a:ext cx="3476700" cy="619200"/>
              </a:xfrm>
              <a:prstGeom prst="roundRect">
                <a:avLst>
                  <a:gd fmla="val 1846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5"/>
              <p:cNvSpPr/>
              <p:nvPr/>
            </p:nvSpPr>
            <p:spPr>
              <a:xfrm>
                <a:off x="114300" y="100013"/>
                <a:ext cx="419100" cy="4191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5"/>
              <p:cNvSpPr txBox="1"/>
              <p:nvPr/>
            </p:nvSpPr>
            <p:spPr>
              <a:xfrm>
                <a:off x="114300" y="1863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dns</a:t>
                </a:r>
                <a:endParaRPr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01" name="Google Shape;501;p25"/>
              <p:cNvSpPr txBox="1"/>
              <p:nvPr/>
            </p:nvSpPr>
            <p:spPr>
              <a:xfrm>
                <a:off x="609600" y="114300"/>
                <a:ext cx="27147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Backend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Node.js / Python (FastAPI)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02" name="Google Shape;502;p25"/>
            <p:cNvGrpSpPr/>
            <p:nvPr/>
          </p:nvGrpSpPr>
          <p:grpSpPr>
            <a:xfrm>
              <a:off x="190500" y="2038350"/>
              <a:ext cx="3476700" cy="619200"/>
              <a:chOff x="0" y="0"/>
              <a:chExt cx="3476700" cy="619200"/>
            </a:xfrm>
          </p:grpSpPr>
          <p:sp>
            <p:nvSpPr>
              <p:cNvPr id="503" name="Google Shape;503;p25"/>
              <p:cNvSpPr/>
              <p:nvPr/>
            </p:nvSpPr>
            <p:spPr>
              <a:xfrm>
                <a:off x="0" y="0"/>
                <a:ext cx="3476700" cy="619200"/>
              </a:xfrm>
              <a:prstGeom prst="roundRect">
                <a:avLst>
                  <a:gd fmla="val 1846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5"/>
              <p:cNvSpPr/>
              <p:nvPr/>
            </p:nvSpPr>
            <p:spPr>
              <a:xfrm>
                <a:off x="114300" y="100013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5"/>
              <p:cNvSpPr txBox="1"/>
              <p:nvPr/>
            </p:nvSpPr>
            <p:spPr>
              <a:xfrm>
                <a:off x="114300" y="1863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06" name="Google Shape;506;p25"/>
              <p:cNvSpPr txBox="1"/>
              <p:nvPr/>
            </p:nvSpPr>
            <p:spPr>
              <a:xfrm>
                <a:off x="609600" y="114300"/>
                <a:ext cx="27147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AI / ML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LLM integration for Agent, ML delay prediction models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07" name="Google Shape;507;p25"/>
            <p:cNvGrpSpPr/>
            <p:nvPr/>
          </p:nvGrpSpPr>
          <p:grpSpPr>
            <a:xfrm>
              <a:off x="190500" y="2733675"/>
              <a:ext cx="3476700" cy="619200"/>
              <a:chOff x="0" y="0"/>
              <a:chExt cx="3476700" cy="619200"/>
            </a:xfrm>
          </p:grpSpPr>
          <p:sp>
            <p:nvSpPr>
              <p:cNvPr id="508" name="Google Shape;508;p25"/>
              <p:cNvSpPr/>
              <p:nvPr/>
            </p:nvSpPr>
            <p:spPr>
              <a:xfrm>
                <a:off x="0" y="0"/>
                <a:ext cx="3476700" cy="619200"/>
              </a:xfrm>
              <a:prstGeom prst="roundRect">
                <a:avLst>
                  <a:gd fmla="val 1846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25"/>
              <p:cNvSpPr/>
              <p:nvPr/>
            </p:nvSpPr>
            <p:spPr>
              <a:xfrm>
                <a:off x="114300" y="100013"/>
                <a:ext cx="419100" cy="4191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5"/>
              <p:cNvSpPr txBox="1"/>
              <p:nvPr/>
            </p:nvSpPr>
            <p:spPr>
              <a:xfrm>
                <a:off x="114300" y="1863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api</a:t>
                </a:r>
                <a:endParaRPr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11" name="Google Shape;511;p25"/>
              <p:cNvSpPr txBox="1"/>
              <p:nvPr/>
            </p:nvSpPr>
            <p:spPr>
              <a:xfrm>
                <a:off x="609600" y="114300"/>
                <a:ext cx="27147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APIs &amp; Data Integration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Live Aviation API, Maps API, GIS Data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512" name="Google Shape;512;p25"/>
          <p:cNvGrpSpPr/>
          <p:nvPr/>
        </p:nvGrpSpPr>
        <p:grpSpPr>
          <a:xfrm>
            <a:off x="4714875" y="1238250"/>
            <a:ext cx="3857700" cy="3429000"/>
            <a:chOff x="0" y="0"/>
            <a:chExt cx="3857700" cy="3429000"/>
          </a:xfrm>
        </p:grpSpPr>
        <p:sp>
          <p:nvSpPr>
            <p:cNvPr id="513" name="Google Shape;513;p25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5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System Data Flow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End-to-end request pipeline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15" name="Google Shape;515;p25"/>
            <p:cNvGrpSpPr/>
            <p:nvPr/>
          </p:nvGrpSpPr>
          <p:grpSpPr>
            <a:xfrm>
              <a:off x="190500" y="714375"/>
              <a:ext cx="3476700" cy="2524200"/>
              <a:chOff x="0" y="0"/>
              <a:chExt cx="3476700" cy="2524200"/>
            </a:xfrm>
          </p:grpSpPr>
          <p:sp>
            <p:nvSpPr>
              <p:cNvPr id="516" name="Google Shape;516;p25"/>
              <p:cNvSpPr/>
              <p:nvPr/>
            </p:nvSpPr>
            <p:spPr>
              <a:xfrm>
                <a:off x="0" y="0"/>
                <a:ext cx="3476700" cy="2524200"/>
              </a:xfrm>
              <a:prstGeom prst="roundRect">
                <a:avLst>
                  <a:gd fmla="val 4528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17" name="Google Shape;517;p25"/>
              <p:cNvGrpSpPr/>
              <p:nvPr/>
            </p:nvGrpSpPr>
            <p:grpSpPr>
              <a:xfrm>
                <a:off x="152400" y="114300"/>
                <a:ext cx="3171900" cy="457200"/>
                <a:chOff x="0" y="0"/>
                <a:chExt cx="3171900" cy="457200"/>
              </a:xfrm>
            </p:grpSpPr>
            <p:sp>
              <p:nvSpPr>
                <p:cNvPr id="518" name="Google Shape;518;p25"/>
                <p:cNvSpPr/>
                <p:nvPr/>
              </p:nvSpPr>
              <p:spPr>
                <a:xfrm>
                  <a:off x="0" y="0"/>
                  <a:ext cx="3171900" cy="457200"/>
                </a:xfrm>
                <a:prstGeom prst="roundRect">
                  <a:avLst>
                    <a:gd fmla="val 20833" name="adj"/>
                  </a:avLst>
                </a:prstGeom>
                <a:solidFill>
                  <a:srgbClr val="EEF2FF">
                    <a:alpha val="50000"/>
                  </a:srgbClr>
                </a:solidFill>
                <a:ln cap="flat" cmpd="sng" w="9525">
                  <a:solidFill>
                    <a:srgbClr val="C7D2F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9" name="Google Shape;519;p25"/>
                <p:cNvSpPr/>
                <p:nvPr/>
              </p:nvSpPr>
              <p:spPr>
                <a:xfrm>
                  <a:off x="76200" y="76200"/>
                  <a:ext cx="304800" cy="304800"/>
                </a:xfrm>
                <a:prstGeom prst="ellipse">
                  <a:avLst/>
                </a:prstGeom>
                <a:solidFill>
                  <a:srgbClr val="EEF2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0" name="Google Shape;520;p25"/>
                <p:cNvSpPr txBox="1"/>
                <p:nvPr/>
              </p:nvSpPr>
              <p:spPr>
                <a:xfrm>
                  <a:off x="76200" y="136207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500">
                      <a:solidFill>
                        <a:srgbClr val="6366F1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person</a:t>
                  </a:r>
                  <a:endParaRPr sz="15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521" name="Google Shape;521;p25"/>
                <p:cNvSpPr txBox="1"/>
                <p:nvPr/>
              </p:nvSpPr>
              <p:spPr>
                <a:xfrm>
                  <a:off x="457200" y="95250"/>
                  <a:ext cx="17145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786">
                      <a:solidFill>
                        <a:srgbClr val="1F2937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User Interface</a:t>
                  </a:r>
                  <a:endParaRPr b="1" sz="786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648">
                      <a:solidFill>
                        <a:srgbClr val="6B7280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User Interaction &amp; Requests</a:t>
                  </a:r>
                  <a:endParaRPr b="0" sz="648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2" name="Google Shape;522;p25"/>
                <p:cNvSpPr/>
                <p:nvPr/>
              </p:nvSpPr>
              <p:spPr>
                <a:xfrm>
                  <a:off x="2343150" y="123825"/>
                  <a:ext cx="714300" cy="2097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6366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3" name="Google Shape;523;p25"/>
                <p:cNvSpPr txBox="1"/>
                <p:nvPr/>
              </p:nvSpPr>
              <p:spPr>
                <a:xfrm>
                  <a:off x="2343150" y="142875"/>
                  <a:ext cx="714300" cy="209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750">
                      <a:solidFill>
                        <a:srgbClr val="FFFFFF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Client</a:t>
                  </a:r>
                  <a:endParaRPr b="0" sz="75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pic>
            <p:nvPicPr>
              <p:cNvPr id="524" name="Google Shape;524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728788" y="571500"/>
                <a:ext cx="19200" cy="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5" name="Google Shape;525;p25"/>
              <p:cNvSpPr/>
              <p:nvPr/>
            </p:nvSpPr>
            <p:spPr>
              <a:xfrm>
                <a:off x="1709738" y="657225"/>
                <a:ext cx="57300" cy="477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6" name="Google Shape;526;p25"/>
              <p:cNvGrpSpPr/>
              <p:nvPr/>
            </p:nvGrpSpPr>
            <p:grpSpPr>
              <a:xfrm>
                <a:off x="152400" y="714375"/>
                <a:ext cx="3171900" cy="457200"/>
                <a:chOff x="0" y="0"/>
                <a:chExt cx="3171900" cy="457200"/>
              </a:xfrm>
            </p:grpSpPr>
            <p:sp>
              <p:nvSpPr>
                <p:cNvPr id="527" name="Google Shape;527;p25"/>
                <p:cNvSpPr/>
                <p:nvPr/>
              </p:nvSpPr>
              <p:spPr>
                <a:xfrm>
                  <a:off x="0" y="0"/>
                  <a:ext cx="3171900" cy="457200"/>
                </a:xfrm>
                <a:prstGeom prst="roundRect">
                  <a:avLst>
                    <a:gd fmla="val 20833" name="adj"/>
                  </a:avLst>
                </a:prstGeom>
                <a:solidFill>
                  <a:srgbClr val="EEF2FF">
                    <a:alpha val="50000"/>
                  </a:srgbClr>
                </a:solidFill>
                <a:ln cap="flat" cmpd="sng" w="9525">
                  <a:solidFill>
                    <a:srgbClr val="C7D2F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25"/>
                <p:cNvSpPr/>
                <p:nvPr/>
              </p:nvSpPr>
              <p:spPr>
                <a:xfrm>
                  <a:off x="76200" y="76200"/>
                  <a:ext cx="304800" cy="304800"/>
                </a:xfrm>
                <a:prstGeom prst="ellipse">
                  <a:avLst/>
                </a:prstGeom>
                <a:solidFill>
                  <a:srgbClr val="EEF2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25"/>
                <p:cNvSpPr txBox="1"/>
                <p:nvPr/>
              </p:nvSpPr>
              <p:spPr>
                <a:xfrm>
                  <a:off x="76200" y="136207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500">
                      <a:solidFill>
                        <a:srgbClr val="6366F1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devices</a:t>
                  </a:r>
                  <a:endParaRPr sz="15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530" name="Google Shape;530;p25"/>
                <p:cNvSpPr txBox="1"/>
                <p:nvPr/>
              </p:nvSpPr>
              <p:spPr>
                <a:xfrm>
                  <a:off x="457200" y="95250"/>
                  <a:ext cx="17145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786">
                      <a:solidFill>
                        <a:srgbClr val="1F2937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Frontend Layer</a:t>
                  </a:r>
                  <a:endParaRPr b="1" sz="786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648">
                      <a:solidFill>
                        <a:srgbClr val="6B7280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React / Next.js &amp; Tailwind UI</a:t>
                  </a:r>
                  <a:endParaRPr b="0" sz="648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1" name="Google Shape;531;p25"/>
                <p:cNvSpPr/>
                <p:nvPr/>
              </p:nvSpPr>
              <p:spPr>
                <a:xfrm>
                  <a:off x="2343150" y="123825"/>
                  <a:ext cx="714300" cy="2097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6366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25"/>
                <p:cNvSpPr txBox="1"/>
                <p:nvPr/>
              </p:nvSpPr>
              <p:spPr>
                <a:xfrm>
                  <a:off x="2343150" y="142875"/>
                  <a:ext cx="714300" cy="209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750">
                      <a:solidFill>
                        <a:srgbClr val="FFFFFF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App</a:t>
                  </a:r>
                  <a:endParaRPr b="0" sz="75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pic>
            <p:nvPicPr>
              <p:cNvPr id="533" name="Google Shape;533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728788" y="1171575"/>
                <a:ext cx="19200" cy="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4" name="Google Shape;534;p25"/>
              <p:cNvSpPr/>
              <p:nvPr/>
            </p:nvSpPr>
            <p:spPr>
              <a:xfrm>
                <a:off x="1709738" y="1257300"/>
                <a:ext cx="57300" cy="477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5" name="Google Shape;535;p25"/>
              <p:cNvGrpSpPr/>
              <p:nvPr/>
            </p:nvGrpSpPr>
            <p:grpSpPr>
              <a:xfrm>
                <a:off x="152400" y="1314450"/>
                <a:ext cx="3171900" cy="457200"/>
                <a:chOff x="0" y="0"/>
                <a:chExt cx="3171900" cy="457200"/>
              </a:xfrm>
            </p:grpSpPr>
            <p:sp>
              <p:nvSpPr>
                <p:cNvPr id="536" name="Google Shape;536;p25"/>
                <p:cNvSpPr/>
                <p:nvPr/>
              </p:nvSpPr>
              <p:spPr>
                <a:xfrm>
                  <a:off x="0" y="0"/>
                  <a:ext cx="3171900" cy="457200"/>
                </a:xfrm>
                <a:prstGeom prst="roundRect">
                  <a:avLst>
                    <a:gd fmla="val 20833" name="adj"/>
                  </a:avLst>
                </a:prstGeom>
                <a:solidFill>
                  <a:srgbClr val="FCE7F3">
                    <a:alpha val="50000"/>
                  </a:srgbClr>
                </a:solidFill>
                <a:ln cap="flat" cmpd="sng" w="9525">
                  <a:solidFill>
                    <a:srgbClr val="FBCFE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7" name="Google Shape;537;p25"/>
                <p:cNvSpPr/>
                <p:nvPr/>
              </p:nvSpPr>
              <p:spPr>
                <a:xfrm>
                  <a:off x="76200" y="76200"/>
                  <a:ext cx="304800" cy="304800"/>
                </a:xfrm>
                <a:prstGeom prst="ellipse">
                  <a:avLst/>
                </a:prstGeom>
                <a:solidFill>
                  <a:srgbClr val="FCE7F3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p25"/>
                <p:cNvSpPr txBox="1"/>
                <p:nvPr/>
              </p:nvSpPr>
              <p:spPr>
                <a:xfrm>
                  <a:off x="76200" y="136207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500">
                      <a:solidFill>
                        <a:srgbClr val="EC4899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router</a:t>
                  </a:r>
                  <a:endParaRPr sz="15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539" name="Google Shape;539;p25"/>
                <p:cNvSpPr txBox="1"/>
                <p:nvPr/>
              </p:nvSpPr>
              <p:spPr>
                <a:xfrm>
                  <a:off x="457200" y="95250"/>
                  <a:ext cx="17145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786">
                      <a:solidFill>
                        <a:srgbClr val="1F2937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Backend Services</a:t>
                  </a:r>
                  <a:endParaRPr b="1" sz="786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648">
                      <a:solidFill>
                        <a:srgbClr val="6B7280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Node.js / FastAPI Routing</a:t>
                  </a:r>
                  <a:endParaRPr b="0" sz="648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40" name="Google Shape;540;p25"/>
                <p:cNvSpPr/>
                <p:nvPr/>
              </p:nvSpPr>
              <p:spPr>
                <a:xfrm>
                  <a:off x="2343150" y="123825"/>
                  <a:ext cx="714300" cy="2097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EC489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1" name="Google Shape;541;p25"/>
                <p:cNvSpPr txBox="1"/>
                <p:nvPr/>
              </p:nvSpPr>
              <p:spPr>
                <a:xfrm>
                  <a:off x="2343150" y="142875"/>
                  <a:ext cx="714300" cy="209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750">
                      <a:solidFill>
                        <a:srgbClr val="FFFFFF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Server</a:t>
                  </a:r>
                  <a:endParaRPr b="0" sz="75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  <p:pic>
            <p:nvPicPr>
              <p:cNvPr id="542" name="Google Shape;542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728788" y="1771650"/>
                <a:ext cx="19200" cy="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3" name="Google Shape;543;p25"/>
              <p:cNvSpPr/>
              <p:nvPr/>
            </p:nvSpPr>
            <p:spPr>
              <a:xfrm>
                <a:off x="1709738" y="1857375"/>
                <a:ext cx="57300" cy="477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EC48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44" name="Google Shape;544;p25"/>
              <p:cNvGrpSpPr/>
              <p:nvPr/>
            </p:nvGrpSpPr>
            <p:grpSpPr>
              <a:xfrm>
                <a:off x="152400" y="1914525"/>
                <a:ext cx="3171900" cy="495300"/>
                <a:chOff x="0" y="0"/>
                <a:chExt cx="3171900" cy="495300"/>
              </a:xfrm>
            </p:grpSpPr>
            <p:sp>
              <p:nvSpPr>
                <p:cNvPr id="545" name="Google Shape;545;p25"/>
                <p:cNvSpPr/>
                <p:nvPr/>
              </p:nvSpPr>
              <p:spPr>
                <a:xfrm>
                  <a:off x="0" y="0"/>
                  <a:ext cx="3171900" cy="495300"/>
                </a:xfrm>
                <a:prstGeom prst="roundRect">
                  <a:avLst>
                    <a:gd fmla="val 1923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C7D2F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" name="Google Shape;546;p25"/>
                <p:cNvSpPr/>
                <p:nvPr/>
              </p:nvSpPr>
              <p:spPr>
                <a:xfrm>
                  <a:off x="76200" y="95250"/>
                  <a:ext cx="304800" cy="304800"/>
                </a:xfrm>
                <a:prstGeom prst="ellipse">
                  <a:avLst/>
                </a:prstGeom>
                <a:solidFill>
                  <a:srgbClr val="EEF2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" name="Google Shape;547;p25"/>
                <p:cNvSpPr txBox="1"/>
                <p:nvPr/>
              </p:nvSpPr>
              <p:spPr>
                <a:xfrm>
                  <a:off x="76200" y="155257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500">
                      <a:solidFill>
                        <a:srgbClr val="6366F1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hub</a:t>
                  </a:r>
                  <a:endParaRPr sz="15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548" name="Google Shape;548;p25"/>
                <p:cNvSpPr txBox="1"/>
                <p:nvPr/>
              </p:nvSpPr>
              <p:spPr>
                <a:xfrm>
                  <a:off x="457200" y="95250"/>
                  <a:ext cx="1714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786">
                      <a:solidFill>
                        <a:srgbClr val="1F2937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AI Engine &amp; External APIs</a:t>
                  </a:r>
                  <a:endParaRPr b="1" sz="786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648">
                      <a:solidFill>
                        <a:srgbClr val="6B7280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LLM, Predictive ML, Live GIS &amp; Flight Data</a:t>
                  </a:r>
                  <a:endParaRPr b="0" sz="648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49" name="Google Shape;549;p25"/>
                <p:cNvSpPr/>
                <p:nvPr/>
              </p:nvSpPr>
              <p:spPr>
                <a:xfrm>
                  <a:off x="2343150" y="142875"/>
                  <a:ext cx="714300" cy="2097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6366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" name="Google Shape;550;p25"/>
                <p:cNvSpPr txBox="1"/>
                <p:nvPr/>
              </p:nvSpPr>
              <p:spPr>
                <a:xfrm>
                  <a:off x="2343150" y="161925"/>
                  <a:ext cx="714300" cy="209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750">
                      <a:solidFill>
                        <a:srgbClr val="FFFFFF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Services</a:t>
                  </a:r>
                  <a:endParaRPr b="0" sz="750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6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6"/>
          <p:cNvSpPr txBox="1"/>
          <p:nvPr/>
        </p:nvSpPr>
        <p:spPr>
          <a:xfrm>
            <a:off x="571500" y="381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Future Roadmap</a:t>
            </a:r>
            <a:endParaRPr b="0" sz="2800">
              <a:solidFill>
                <a:srgbClr val="1F293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2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What's Next for SettleIn?</a:t>
            </a:r>
            <a:endParaRPr b="0" sz="1020">
              <a:solidFill>
                <a:srgbClr val="6B728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558" name="Google Shape;558;p26"/>
          <p:cNvGrpSpPr/>
          <p:nvPr/>
        </p:nvGrpSpPr>
        <p:grpSpPr>
          <a:xfrm>
            <a:off x="571500" y="1238250"/>
            <a:ext cx="3857700" cy="3429000"/>
            <a:chOff x="0" y="0"/>
            <a:chExt cx="3857700" cy="3429000"/>
          </a:xfrm>
        </p:grpSpPr>
        <p:sp>
          <p:nvSpPr>
            <p:cNvPr id="559" name="Google Shape;559;p26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6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Upcoming Integrations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Platform expansion and real-time utilities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61" name="Google Shape;561;p26"/>
            <p:cNvGrpSpPr/>
            <p:nvPr/>
          </p:nvGrpSpPr>
          <p:grpSpPr>
            <a:xfrm>
              <a:off x="190500" y="714375"/>
              <a:ext cx="3476700" cy="714300"/>
              <a:chOff x="0" y="0"/>
              <a:chExt cx="3476700" cy="714300"/>
            </a:xfrm>
          </p:grpSpPr>
          <p:sp>
            <p:nvSpPr>
              <p:cNvPr id="562" name="Google Shape;562;p26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6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6"/>
              <p:cNvSpPr txBox="1"/>
              <p:nvPr/>
            </p:nvSpPr>
            <p:spPr>
              <a:xfrm>
                <a:off x="152400" y="233998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power</a:t>
                </a:r>
                <a:endParaRPr b="0"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65" name="Google Shape;565;p26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Real-Time Utilities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Integration with electricity and water providers.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66" name="Google Shape;566;p26"/>
            <p:cNvGrpSpPr/>
            <p:nvPr/>
          </p:nvGrpSpPr>
          <p:grpSpPr>
            <a:xfrm>
              <a:off x="190500" y="1547813"/>
              <a:ext cx="3476700" cy="714300"/>
              <a:chOff x="0" y="0"/>
              <a:chExt cx="3476700" cy="714300"/>
            </a:xfrm>
          </p:grpSpPr>
          <p:sp>
            <p:nvSpPr>
              <p:cNvPr id="567" name="Google Shape;567;p26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6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26"/>
              <p:cNvSpPr txBox="1"/>
              <p:nvPr/>
            </p:nvSpPr>
            <p:spPr>
              <a:xfrm>
                <a:off x="152400" y="233998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20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forum</a:t>
                </a:r>
                <a:endParaRPr b="0"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70" name="Google Shape;570;p26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Community Forums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Interactive Q&amp;A for local neighborhoods.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571" name="Google Shape;571;p26"/>
          <p:cNvGrpSpPr/>
          <p:nvPr/>
        </p:nvGrpSpPr>
        <p:grpSpPr>
          <a:xfrm>
            <a:off x="4714875" y="1238250"/>
            <a:ext cx="3857700" cy="3429000"/>
            <a:chOff x="0" y="0"/>
            <a:chExt cx="3857700" cy="3429000"/>
          </a:xfrm>
        </p:grpSpPr>
        <p:sp>
          <p:nvSpPr>
            <p:cNvPr id="572" name="Google Shape;572;p26"/>
            <p:cNvSpPr/>
            <p:nvPr/>
          </p:nvSpPr>
          <p:spPr>
            <a:xfrm>
              <a:off x="0" y="0"/>
              <a:ext cx="38577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6"/>
            <p:cNvSpPr txBox="1"/>
            <p:nvPr/>
          </p:nvSpPr>
          <p:spPr>
            <a:xfrm>
              <a:off x="190500" y="190500"/>
              <a:ext cx="347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rPr>
                <a:t>Global Accessibility</a:t>
              </a:r>
              <a:endParaRPr b="1" sz="130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4B5563"/>
                  </a:solidFill>
                  <a:latin typeface="Poppins"/>
                  <a:ea typeface="Poppins"/>
                  <a:cs typeface="Poppins"/>
                  <a:sym typeface="Poppins"/>
                </a:rPr>
                <a:t>Reaching more users worldwide</a:t>
              </a:r>
              <a:endParaRPr b="0" sz="95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74" name="Google Shape;574;p26"/>
            <p:cNvGrpSpPr/>
            <p:nvPr/>
          </p:nvGrpSpPr>
          <p:grpSpPr>
            <a:xfrm>
              <a:off x="190500" y="714375"/>
              <a:ext cx="3476700" cy="714300"/>
              <a:chOff x="0" y="0"/>
              <a:chExt cx="3476700" cy="714300"/>
            </a:xfrm>
          </p:grpSpPr>
          <p:sp>
            <p:nvSpPr>
              <p:cNvPr id="575" name="Google Shape;575;p26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6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6"/>
              <p:cNvSpPr txBox="1"/>
              <p:nvPr/>
            </p:nvSpPr>
            <p:spPr>
              <a:xfrm>
                <a:off x="152400" y="233998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2000">
                    <a:solidFill>
                      <a:srgbClr val="6366F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smartphone</a:t>
                </a:r>
                <a:endParaRPr b="0" sz="20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78" name="Google Shape;578;p26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Mobile Application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iOS &amp; Android apps for on-the-go tracking.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79" name="Google Shape;579;p26"/>
            <p:cNvGrpSpPr/>
            <p:nvPr/>
          </p:nvGrpSpPr>
          <p:grpSpPr>
            <a:xfrm>
              <a:off x="190500" y="1547813"/>
              <a:ext cx="3476700" cy="714300"/>
              <a:chOff x="0" y="0"/>
              <a:chExt cx="3476700" cy="714300"/>
            </a:xfrm>
          </p:grpSpPr>
          <p:sp>
            <p:nvSpPr>
              <p:cNvPr id="580" name="Google Shape;580;p26"/>
              <p:cNvSpPr/>
              <p:nvPr/>
            </p:nvSpPr>
            <p:spPr>
              <a:xfrm>
                <a:off x="0" y="0"/>
                <a:ext cx="3476700" cy="7143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EF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6"/>
              <p:cNvSpPr/>
              <p:nvPr/>
            </p:nvSpPr>
            <p:spPr>
              <a:xfrm>
                <a:off x="152400" y="147638"/>
                <a:ext cx="419100" cy="419100"/>
              </a:xfrm>
              <a:prstGeom prst="ellipse">
                <a:avLst/>
              </a:prstGeom>
              <a:solidFill>
                <a:srgbClr val="FCE7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6"/>
              <p:cNvSpPr txBox="1"/>
              <p:nvPr/>
            </p:nvSpPr>
            <p:spPr>
              <a:xfrm>
                <a:off x="152400" y="233998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2000">
                    <a:solidFill>
                      <a:srgbClr val="EC489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public</a:t>
                </a:r>
                <a:endParaRPr b="0"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583" name="Google Shape;583;p26"/>
              <p:cNvSpPr txBox="1"/>
              <p:nvPr/>
            </p:nvSpPr>
            <p:spPr>
              <a:xfrm>
                <a:off x="666750" y="114300"/>
                <a:ext cx="2667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35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Global Expansion</a:t>
                </a:r>
                <a:endParaRPr b="1" sz="935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65">
                    <a:solidFill>
                      <a:srgbClr val="6B72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Scaling operations to 50+ global cities.</a:t>
                </a:r>
                <a:endParaRPr b="0" sz="765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7"/>
          <p:cNvSpPr/>
          <p:nvPr/>
        </p:nvSpPr>
        <p:spPr>
          <a:xfrm>
            <a:off x="-666750" y="-1143000"/>
            <a:ext cx="4191000" cy="41910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7"/>
          <p:cNvSpPr/>
          <p:nvPr/>
        </p:nvSpPr>
        <p:spPr>
          <a:xfrm>
            <a:off x="5429250" y="1619250"/>
            <a:ext cx="4762500" cy="4762500"/>
          </a:xfrm>
          <a:prstGeom prst="ellipse">
            <a:avLst/>
          </a:prstGeom>
          <a:solidFill>
            <a:srgbClr val="EC4899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0" name="Google Shape;590;p27"/>
          <p:cNvGrpSpPr/>
          <p:nvPr/>
        </p:nvGrpSpPr>
        <p:grpSpPr>
          <a:xfrm>
            <a:off x="1714500" y="476250"/>
            <a:ext cx="5715000" cy="4191000"/>
            <a:chOff x="0" y="0"/>
            <a:chExt cx="5715000" cy="4191000"/>
          </a:xfrm>
        </p:grpSpPr>
        <p:sp>
          <p:nvSpPr>
            <p:cNvPr id="591" name="Google Shape;591;p27"/>
            <p:cNvSpPr/>
            <p:nvPr/>
          </p:nvSpPr>
          <p:spPr>
            <a:xfrm>
              <a:off x="0" y="0"/>
              <a:ext cx="5715000" cy="41910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EF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2" name="Google Shape;592;p27"/>
            <p:cNvGrpSpPr/>
            <p:nvPr/>
          </p:nvGrpSpPr>
          <p:grpSpPr>
            <a:xfrm>
              <a:off x="1428750" y="333375"/>
              <a:ext cx="2857500" cy="1381125"/>
              <a:chOff x="-952500" y="0"/>
              <a:chExt cx="2857500" cy="1381125"/>
            </a:xfrm>
          </p:grpSpPr>
          <p:sp>
            <p:nvSpPr>
              <p:cNvPr id="593" name="Google Shape;593;p27"/>
              <p:cNvSpPr/>
              <p:nvPr/>
            </p:nvSpPr>
            <p:spPr>
              <a:xfrm>
                <a:off x="0" y="0"/>
                <a:ext cx="952500" cy="952500"/>
              </a:xfrm>
              <a:prstGeom prst="ellipse">
                <a:avLst/>
              </a:prstGeom>
              <a:solidFill>
                <a:srgbClr val="EEF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27"/>
              <p:cNvSpPr/>
              <p:nvPr/>
            </p:nvSpPr>
            <p:spPr>
              <a:xfrm>
                <a:off x="133350" y="133350"/>
                <a:ext cx="685800" cy="685800"/>
              </a:xfrm>
              <a:prstGeom prst="ellipse">
                <a:avLst/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27"/>
              <p:cNvSpPr/>
              <p:nvPr/>
            </p:nvSpPr>
            <p:spPr>
              <a:xfrm>
                <a:off x="361950" y="400050"/>
                <a:ext cx="2286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476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27"/>
              <p:cNvSpPr txBox="1"/>
              <p:nvPr/>
            </p:nvSpPr>
            <p:spPr>
              <a:xfrm>
                <a:off x="-952500" y="1000125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1F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SettleIn</a:t>
                </a:r>
                <a:endParaRPr b="1" sz="1400">
                  <a:solidFill>
                    <a:srgbClr val="1F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97" name="Google Shape;597;p27"/>
            <p:cNvSpPr txBox="1"/>
            <p:nvPr/>
          </p:nvSpPr>
          <p:spPr>
            <a:xfrm>
              <a:off x="476250" y="1905000"/>
              <a:ext cx="4762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240">
                  <a:solidFill>
                    <a:srgbClr val="1F2937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Relocate Smarter, Not Harder.</a:t>
              </a:r>
              <a:endParaRPr b="0" sz="2240">
                <a:solidFill>
                  <a:srgbClr val="1F2937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840">
                  <a:solidFill>
                    <a:srgbClr val="6B728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Thank you for your time!</a:t>
              </a:r>
              <a:endParaRPr b="0" sz="840">
                <a:solidFill>
                  <a:srgbClr val="6B7280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grpSp>
          <p:nvGrpSpPr>
            <p:cNvPr id="598" name="Google Shape;598;p27"/>
            <p:cNvGrpSpPr/>
            <p:nvPr/>
          </p:nvGrpSpPr>
          <p:grpSpPr>
            <a:xfrm>
              <a:off x="476250" y="2857500"/>
              <a:ext cx="4762500" cy="457200"/>
              <a:chOff x="0" y="0"/>
              <a:chExt cx="4762500" cy="457200"/>
            </a:xfrm>
          </p:grpSpPr>
          <p:sp>
            <p:nvSpPr>
              <p:cNvPr id="599" name="Google Shape;599;p27"/>
              <p:cNvSpPr/>
              <p:nvPr/>
            </p:nvSpPr>
            <p:spPr>
              <a:xfrm>
                <a:off x="0" y="0"/>
                <a:ext cx="4762500" cy="457200"/>
              </a:xfrm>
              <a:prstGeom prst="roundRect">
                <a:avLst>
                  <a:gd fmla="val 20833" name="adj"/>
                </a:avLst>
              </a:prstGeom>
              <a:solidFill>
                <a:srgbClr val="EEF2FF">
                  <a:alpha val="50000"/>
                </a:srgbClr>
              </a:solidFill>
              <a:ln cap="flat" cmpd="sng" w="9525">
                <a:solidFill>
                  <a:srgbClr val="C7D2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27"/>
              <p:cNvSpPr txBox="1"/>
              <p:nvPr/>
            </p:nvSpPr>
            <p:spPr>
              <a:xfrm>
                <a:off x="0" y="0"/>
                <a:ext cx="4762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6366F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github.com/shriya-0802/Microsoft.git</a:t>
                </a:r>
                <a:endParaRPr b="0" sz="1100">
                  <a:solidFill>
                    <a:srgbClr val="6366F1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850">
                    <a:solidFill>
                      <a:srgbClr val="6B7280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Built for: Microsoft Agent-a-thon 2026</a:t>
                </a:r>
                <a:endParaRPr b="0" sz="850">
                  <a:solidFill>
                    <a:srgbClr val="6B7280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601" name="Google Shape;601;p27"/>
            <p:cNvGrpSpPr/>
            <p:nvPr/>
          </p:nvGrpSpPr>
          <p:grpSpPr>
            <a:xfrm>
              <a:off x="2190750" y="3505200"/>
              <a:ext cx="1333500" cy="381000"/>
              <a:chOff x="0" y="0"/>
              <a:chExt cx="1333500" cy="381000"/>
            </a:xfrm>
          </p:grpSpPr>
          <p:sp>
            <p:nvSpPr>
              <p:cNvPr id="602" name="Google Shape;602;p27"/>
              <p:cNvSpPr/>
              <p:nvPr/>
            </p:nvSpPr>
            <p:spPr>
              <a:xfrm>
                <a:off x="0" y="0"/>
                <a:ext cx="13335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7"/>
              <p:cNvSpPr txBox="1"/>
              <p:nvPr/>
            </p:nvSpPr>
            <p:spPr>
              <a:xfrm>
                <a:off x="0" y="0"/>
                <a:ext cx="1333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4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Q&amp;A</a:t>
                </a:r>
                <a:endParaRPr b="1" sz="84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